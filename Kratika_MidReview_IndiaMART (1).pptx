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5143500" cy="9144000"/>
  <p:embeddedFontLs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6" roundtripDataSignature="AMtx7mh13SBSblLTcyZqlEQXUUWmVl/O6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A5383E2-82FB-4F88-97F2-8A5A168AEFB1}">
  <a:tblStyle styleId="{BA5383E2-82FB-4F88-97F2-8A5A168AEFB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OpenSans-regular.fntdata"/><Relationship Id="rId23" Type="http://schemas.openxmlformats.org/officeDocument/2006/relationships/font" Target="fonts/OpenSans-bold.fntdata"/><Relationship Id="rId24" Type="http://schemas.openxmlformats.org/officeDocument/2006/relationships/font" Target="fonts/OpenSans-italic.fntdata"/><Relationship Id="rId25" Type="http://schemas.openxmlformats.org/officeDocument/2006/relationships/font" Target="fonts/OpenSans-boldItalic.fntdata"/><Relationship Id="rId26" Type="http://customschemas.google.com/relationships/presentationmetadata" Target="meta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IN" sz="1000" b="0" i="0" u="none" strike="noStrike">
                <a:solidFill>
                  <a:srgbClr val="000000"/>
                </a:solidFill>
                <a:latin typeface="Arial"/>
              </a:rPr>
              <a:t>Cost/Transaction Trend (₹)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Cost/Txn</c:v>
                </c:pt>
              </c:strCache>
            </c:strRef>
          </c:tx>
          <c:spPr>
            <a:solidFill>
              <a:srgbClr val="1055A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C2F6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22</c:v>
                </c:pt>
                <c:pt idx="1">
                  <c:v>19</c:v>
                </c:pt>
                <c:pt idx="2">
                  <c:v>18.399999999999999</c:v>
                </c:pt>
                <c:pt idx="3">
                  <c:v>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597-4187-8A61-640AA4CBA37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EEF3FA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IN" sz="900" b="0" i="0" u="none" strike="noStrike">
                <a:solidFill>
                  <a:srgbClr val="000000"/>
                </a:solidFill>
                <a:latin typeface="Arial"/>
              </a:rPr>
              <a:t>Flag Distribution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MCATs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66D0-43DE-A26B-BA6523BBC709}"/>
              </c:ext>
            </c:extLst>
          </c:dPt>
          <c:dPt>
            <c:idx val="1"/>
            <c:bubble3D val="0"/>
            <c:spPr>
              <a:solidFill>
                <a:srgbClr val="D9770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6D0-43DE-A26B-BA6523BBC709}"/>
              </c:ext>
            </c:extLst>
          </c:dPt>
          <c:dPt>
            <c:idx val="2"/>
            <c:bubble3D val="0"/>
            <c:spPr>
              <a:solidFill>
                <a:srgbClr val="CC1A2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66D0-43DE-A26B-BA6523BBC70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6D0-43DE-A26B-BA6523BBC70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6D0-43DE-A26B-BA6523BBC70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66D0-43DE-A26B-BA6523BBC70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35</c:v>
                </c:pt>
                <c:pt idx="1">
                  <c:v>40</c:v>
                </c:pt>
                <c:pt idx="2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6D0-43DE-A26B-BA6523BBC70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800"/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Mutual gains of busy user- and IM..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e6a231c308_3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6" name="Google Shape;86;g3e6a231c308_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Mutual gains of busy user- and IM..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e6a231c308_3_57:notes"/>
          <p:cNvSpPr/>
          <p:nvPr>
            <p:ph idx="2" type="sldImg"/>
          </p:nvPr>
        </p:nvSpPr>
        <p:spPr>
          <a:xfrm>
            <a:off x="857400" y="685800"/>
            <a:ext cx="3429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e6a231c308_3_57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9" name="Google Shape;9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Mutual gains of busy user- and IM..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7" name="Google Shape;10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Mutual gains of busy user- and IM..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e6a231c308_2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5" name="Google Shape;165;g3e6a231c308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Mutual gains of busy user- and IM..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6" name="Google Shape;17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Mutual gains of busy user- and IM..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1" name="Google Shape;23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Mutual gains of busy user- and IM..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4" name="Google Shape;26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Mutual gains of busy user- and IM..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2" name="Google Shape;272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Mutual gains of busy user- and IM..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8" name="Google Shape;30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Mutual gains of busy user- and IM..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6" name="Google Shape;356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Mutual gains of busy user- and IM..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2" name="Google Shape;36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Mutual gains of busy user- and IM..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1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0" name="Google Shape;40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Mutual gains of busy user- and IM..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p15"/>
          <p:cNvSpPr txBox="1"/>
          <p:nvPr>
            <p:ph type="ctrTitle"/>
          </p:nvPr>
        </p:nvSpPr>
        <p:spPr>
          <a:xfrm>
            <a:off x="651294" y="1416889"/>
            <a:ext cx="47682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300"/>
              <a:buFont typeface="Open Sans"/>
              <a:buNone/>
              <a:defRPr b="1" i="0" sz="3300" u="none" cap="none" strike="noStrike">
                <a:solidFill>
                  <a:srgbClr val="002060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800"/>
            </a:lvl9pPr>
          </a:lstStyle>
          <a:p/>
        </p:txBody>
      </p:sp>
      <p:cxnSp>
        <p:nvCxnSpPr>
          <p:cNvPr id="8" name="Google Shape;8;p15"/>
          <p:cNvCxnSpPr/>
          <p:nvPr/>
        </p:nvCxnSpPr>
        <p:spPr>
          <a:xfrm rot="10800000">
            <a:off x="651271" y="2018582"/>
            <a:ext cx="4091100" cy="0"/>
          </a:xfrm>
          <a:prstGeom prst="straightConnector1">
            <a:avLst/>
          </a:prstGeom>
          <a:noFill/>
          <a:ln cap="flat" cmpd="sng" w="14300">
            <a:solidFill>
              <a:srgbClr val="BFBFB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9" name="Google Shape;9;p15"/>
          <p:cNvSpPr txBox="1"/>
          <p:nvPr>
            <p:ph idx="1" type="body"/>
          </p:nvPr>
        </p:nvSpPr>
        <p:spPr>
          <a:xfrm>
            <a:off x="651294" y="2116214"/>
            <a:ext cx="4768200" cy="67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2060"/>
              </a:buClr>
              <a:buSzPts val="2100"/>
              <a:buFont typeface="Arial"/>
              <a:buNone/>
              <a:defRPr b="0" i="0" sz="3200" u="none" cap="none" strike="noStrik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ata-text-slide">
  <p:cSld name="Data-text-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6"/>
          <p:cNvSpPr txBox="1"/>
          <p:nvPr>
            <p:ph type="title"/>
          </p:nvPr>
        </p:nvSpPr>
        <p:spPr>
          <a:xfrm>
            <a:off x="305159" y="228555"/>
            <a:ext cx="6662700" cy="5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300"/>
              <a:buFont typeface="Open Sans"/>
              <a:buNone/>
              <a:defRPr b="1" i="0" sz="2300" u="none" cap="none" strike="noStrike">
                <a:solidFill>
                  <a:srgbClr val="002060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800"/>
            </a:lvl9pPr>
          </a:lstStyle>
          <a:p/>
        </p:txBody>
      </p:sp>
      <p:sp>
        <p:nvSpPr>
          <p:cNvPr id="12" name="Google Shape;12;p16"/>
          <p:cNvSpPr/>
          <p:nvPr/>
        </p:nvSpPr>
        <p:spPr>
          <a:xfrm>
            <a:off x="427007" y="763437"/>
            <a:ext cx="1209900" cy="58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16"/>
          <p:cNvSpPr/>
          <p:nvPr>
            <p:ph idx="2" type="chart"/>
          </p:nvPr>
        </p:nvSpPr>
        <p:spPr>
          <a:xfrm>
            <a:off x="4354476" y="1242249"/>
            <a:ext cx="3875400" cy="2988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6"/>
          <p:cNvSpPr txBox="1"/>
          <p:nvPr>
            <p:ph idx="1" type="body"/>
          </p:nvPr>
        </p:nvSpPr>
        <p:spPr>
          <a:xfrm>
            <a:off x="305159" y="1242249"/>
            <a:ext cx="2749200" cy="9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221F1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21F1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21F1F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221F1F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21F1F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221F1F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21F1F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221F1F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21F1F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221F1F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you-slide">
  <p:cSld name="thankyou-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/>
          <p:nvPr/>
        </p:nvSpPr>
        <p:spPr>
          <a:xfrm>
            <a:off x="387927" y="1486838"/>
            <a:ext cx="8368200" cy="1441200"/>
          </a:xfrm>
          <a:prstGeom prst="rect">
            <a:avLst/>
          </a:prstGeom>
          <a:solidFill>
            <a:srgbClr val="372E83"/>
          </a:solidFill>
          <a:ln cap="flat" cmpd="sng" w="9525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7"/>
          <p:cNvSpPr txBox="1"/>
          <p:nvPr>
            <p:ph idx="1" type="body"/>
          </p:nvPr>
        </p:nvSpPr>
        <p:spPr>
          <a:xfrm>
            <a:off x="1461655" y="1829311"/>
            <a:ext cx="5249400" cy="8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Arial"/>
              <a:buNone/>
              <a:defRPr b="1" i="0" sz="4900" u="none" cap="none" strike="noStrik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C00000"/>
              </a:buClr>
              <a:buSzPts val="5400"/>
              <a:buFont typeface="Arial"/>
              <a:buNone/>
              <a:defRPr b="0" i="0" sz="5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C00000"/>
              </a:buClr>
              <a:buSzPts val="5400"/>
              <a:buFont typeface="Arial"/>
              <a:buNone/>
              <a:defRPr b="0" i="0" sz="5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C00000"/>
              </a:buClr>
              <a:buSzPts val="5400"/>
              <a:buFont typeface="Arial"/>
              <a:buNone/>
              <a:defRPr b="0" i="0" sz="5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C00000"/>
              </a:buClr>
              <a:buSzPts val="5400"/>
              <a:buFont typeface="Arial"/>
              <a:buNone/>
              <a:defRPr b="0" i="0" sz="54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mail.google.com/mail/u/4/#inbox/FMfcgzQgLXvQrRBtSzDJfDdTJvwNSVzp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13.png"/><Relationship Id="rId6" Type="http://schemas.openxmlformats.org/officeDocument/2006/relationships/image" Target="../media/image2.png"/><Relationship Id="rId7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image" Target="../media/image15.png"/><Relationship Id="rId6" Type="http://schemas.openxmlformats.org/officeDocument/2006/relationships/image" Target="../media/image6.png"/><Relationship Id="rId7" Type="http://schemas.openxmlformats.org/officeDocument/2006/relationships/image" Target="../media/image8.png"/><Relationship Id="rId8" Type="http://schemas.openxmlformats.org/officeDocument/2006/relationships/hyperlink" Target="about:blank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Relationship Id="rId5" Type="http://schemas.openxmlformats.org/officeDocument/2006/relationships/image" Target="../media/image9.png"/><Relationship Id="rId6" Type="http://schemas.openxmlformats.org/officeDocument/2006/relationships/hyperlink" Target="https://docs.google.com/spreadsheets/d/1eDJmTpiV1m9KPjS5JvyvKoUMU4IzDxeoBiQ0NjE990c/edit?gid=1046253378#gid=1046253378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Relationship Id="rId4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"/>
          <p:cNvSpPr/>
          <p:nvPr/>
        </p:nvSpPr>
        <p:spPr>
          <a:xfrm>
            <a:off x="581296" y="326571"/>
            <a:ext cx="4062549" cy="164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3864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1F3864"/>
                </a:solidFill>
                <a:latin typeface="Calibri"/>
                <a:ea typeface="Calibri"/>
                <a:cs typeface="Calibri"/>
                <a:sym typeface="Calibri"/>
              </a:rPr>
              <a:t>Product Management</a:t>
            </a:r>
            <a:endParaRPr b="0" i="0" sz="3200" u="none" cap="none" strike="noStrike">
              <a:solidFill>
                <a:srgbClr val="1F386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3864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1F3864"/>
                </a:solidFill>
                <a:latin typeface="Calibri"/>
                <a:ea typeface="Calibri"/>
                <a:cs typeface="Calibri"/>
                <a:sym typeface="Calibri"/>
              </a:rPr>
              <a:t>Internship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3864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1F3864"/>
                </a:solidFill>
                <a:latin typeface="Calibri"/>
                <a:ea typeface="Calibri"/>
                <a:cs typeface="Calibri"/>
                <a:sym typeface="Calibri"/>
              </a:rPr>
              <a:t>Mid-Review</a:t>
            </a:r>
            <a:endParaRPr b="0" i="0" sz="3200" u="none" cap="none" strike="noStrike">
              <a:solidFill>
                <a:srgbClr val="1F386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609600" y="3992009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3864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F3864"/>
                </a:solidFill>
                <a:latin typeface="Calibri"/>
                <a:ea typeface="Calibri"/>
                <a:cs typeface="Calibri"/>
                <a:sym typeface="Calibri"/>
              </a:rPr>
              <a:t>Kratika Agarwal</a:t>
            </a:r>
            <a:endParaRPr b="0" i="0" sz="1500" u="none" cap="none" strike="noStrike">
              <a:solidFill>
                <a:srgbClr val="1F386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09600" y="4370832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F3864"/>
                </a:solidFill>
                <a:latin typeface="Calibri"/>
                <a:ea typeface="Calibri"/>
                <a:cs typeface="Calibri"/>
                <a:sym typeface="Calibri"/>
              </a:rPr>
              <a:t>Product Management Intern, </a:t>
            </a:r>
            <a:br>
              <a:rPr b="0" i="0" lang="en-US" sz="1000" u="none" cap="none" strike="noStrike">
                <a:solidFill>
                  <a:srgbClr val="1F386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00" u="none" cap="none" strike="noStrike">
                <a:solidFill>
                  <a:srgbClr val="1F3864"/>
                </a:solidFill>
                <a:latin typeface="Calibri"/>
                <a:ea typeface="Calibri"/>
                <a:cs typeface="Calibri"/>
                <a:sym typeface="Calibri"/>
              </a:rPr>
              <a:t>April 2026 – Present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sz="1000">
              <a:solidFill>
                <a:srgbClr val="1F386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5943600" y="4370832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F3864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1F3864"/>
                </a:solidFill>
                <a:latin typeface="Calibri"/>
                <a:ea typeface="Calibri"/>
                <a:cs typeface="Calibri"/>
                <a:sym typeface="Calibri"/>
              </a:rPr>
              <a:t>Google Ads · Analytics · Automation · KPI Tracking</a:t>
            </a:r>
            <a:endParaRPr/>
          </a:p>
        </p:txBody>
      </p:sp>
      <p:sp>
        <p:nvSpPr>
          <p:cNvPr id="27" name="Google Shape;27;p1"/>
          <p:cNvSpPr/>
          <p:nvPr/>
        </p:nvSpPr>
        <p:spPr>
          <a:xfrm>
            <a:off x="609600" y="2632165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F3864"/>
                </a:solidFill>
                <a:latin typeface="Calibri"/>
                <a:ea typeface="Calibri"/>
                <a:cs typeface="Calibri"/>
                <a:sym typeface="Calibri"/>
              </a:rPr>
              <a:t>Project-: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F3864"/>
                </a:solidFill>
                <a:latin typeface="Calibri"/>
                <a:ea typeface="Calibri"/>
                <a:cs typeface="Calibri"/>
                <a:sym typeface="Calibri"/>
              </a:rPr>
              <a:t>IM Ads Automated Performance Attribution &amp; Hierarchical Analytics Framework</a:t>
            </a:r>
            <a:endParaRPr sz="1500">
              <a:solidFill>
                <a:srgbClr val="1F386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"/>
          <p:cNvSpPr/>
          <p:nvPr/>
        </p:nvSpPr>
        <p:spPr>
          <a:xfrm>
            <a:off x="399070" y="63802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Role &amp; Business Understanding</a:t>
            </a:r>
            <a:endParaRPr sz="1800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0" y="4846320"/>
            <a:ext cx="9144000" cy="91440"/>
          </a:xfrm>
          <a:prstGeom prst="rect">
            <a:avLst/>
          </a:prstGeom>
          <a:solidFill>
            <a:srgbClr val="3B82C4"/>
          </a:solidFill>
          <a:ln cap="flat" cmpd="sng" w="12700">
            <a:solidFill>
              <a:srgbClr val="3B82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502920" y="2697480"/>
            <a:ext cx="3901222" cy="1920240"/>
          </a:xfrm>
          <a:prstGeom prst="rect">
            <a:avLst/>
          </a:prstGeom>
          <a:solidFill>
            <a:srgbClr val="F0F4FA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 flipH="1" rot="10800000">
            <a:off x="512064" y="2685724"/>
            <a:ext cx="3892078" cy="522514"/>
          </a:xfrm>
          <a:prstGeom prst="rect">
            <a:avLst/>
          </a:prstGeom>
          <a:solidFill>
            <a:srgbClr val="002060"/>
          </a:solidFill>
          <a:ln cap="flat" cmpd="sng" w="12700">
            <a:solidFill>
              <a:srgbClr val="2563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2040419" y="2743200"/>
            <a:ext cx="4151376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Initial Week Insights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481366" y="3272246"/>
            <a:ext cx="4032504" cy="3337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E2B3C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B3C"/>
                </a:solidFill>
                <a:latin typeface="Calibri"/>
                <a:ea typeface="Calibri"/>
                <a:cs typeface="Calibri"/>
                <a:sym typeface="Calibri"/>
              </a:rPr>
              <a:t>Shopping Ads over Search Ads — visual ads outperform text for B2B buyers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E2B3C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B3C"/>
                </a:solidFill>
                <a:latin typeface="Calibri"/>
                <a:ea typeface="Calibri"/>
                <a:cs typeface="Calibri"/>
                <a:sym typeface="Calibri"/>
              </a:rPr>
              <a:t>Google Ads auction system — competitive bidding dynamics with real-time pricing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E2B3C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B3C"/>
                </a:solidFill>
                <a:latin typeface="Calibri"/>
                <a:ea typeface="Calibri"/>
                <a:cs typeface="Calibri"/>
                <a:sym typeface="Calibri"/>
              </a:rPr>
              <a:t>Non-IM Sellers running their ads directly on IndiaMART platform for product visibility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8" name="Google Shape;38;p2"/>
          <p:cNvGrpSpPr/>
          <p:nvPr/>
        </p:nvGrpSpPr>
        <p:grpSpPr>
          <a:xfrm>
            <a:off x="4909250" y="998516"/>
            <a:ext cx="4476413" cy="1638567"/>
            <a:chOff x="4617720" y="777240"/>
            <a:chExt cx="4921046" cy="1815737"/>
          </a:xfrm>
        </p:grpSpPr>
        <p:sp>
          <p:nvSpPr>
            <p:cNvPr id="39" name="Google Shape;39;p2"/>
            <p:cNvSpPr/>
            <p:nvPr/>
          </p:nvSpPr>
          <p:spPr>
            <a:xfrm>
              <a:off x="4649724" y="962732"/>
              <a:ext cx="3161539" cy="1630245"/>
            </a:xfrm>
            <a:prstGeom prst="rect">
              <a:avLst/>
            </a:prstGeom>
            <a:solidFill>
              <a:srgbClr val="F0F4FA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4617720" y="777240"/>
              <a:ext cx="3193543" cy="231857"/>
            </a:xfrm>
            <a:prstGeom prst="rect">
              <a:avLst/>
            </a:prstGeom>
            <a:solidFill>
              <a:srgbClr val="1B3A6B"/>
            </a:solidFill>
            <a:ln cap="flat" cmpd="sng" w="12700">
              <a:solidFill>
                <a:srgbClr val="1B3A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4703935" y="1084451"/>
              <a:ext cx="51729" cy="359379"/>
            </a:xfrm>
            <a:prstGeom prst="rect">
              <a:avLst/>
            </a:prstGeom>
            <a:solidFill>
              <a:srgbClr val="3B82C4"/>
            </a:solidFill>
            <a:ln cap="flat" cmpd="sng" w="12700">
              <a:solidFill>
                <a:srgbClr val="3B82C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4703935" y="1617723"/>
              <a:ext cx="51729" cy="359379"/>
            </a:xfrm>
            <a:prstGeom prst="rect">
              <a:avLst/>
            </a:prstGeom>
            <a:solidFill>
              <a:srgbClr val="3B82C4"/>
            </a:solidFill>
            <a:ln cap="flat" cmpd="sng" w="12700">
              <a:solidFill>
                <a:srgbClr val="3B82C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5788420" y="783901"/>
              <a:ext cx="3750346" cy="23185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00"/>
                <a:buFont typeface="Calibri"/>
                <a:buNone/>
              </a:pPr>
              <a:r>
                <a:rPr b="1"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Core Concepts</a:t>
              </a:r>
              <a:endParaRPr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4833257" y="1096044"/>
              <a:ext cx="3577917" cy="14491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1E2B3C"/>
                </a:buClr>
                <a:buSzPts val="1050"/>
                <a:buFont typeface="Calibri"/>
                <a:buNone/>
              </a:pPr>
              <a:r>
                <a:rPr b="1" lang="en-US" sz="1050">
                  <a:solidFill>
                    <a:srgbClr val="1E2B3C"/>
                  </a:solidFill>
                  <a:latin typeface="Calibri"/>
                  <a:ea typeface="Calibri"/>
                  <a:cs typeface="Calibri"/>
                  <a:sym typeface="Calibri"/>
                </a:rPr>
                <a:t>Buylead Lifecycle</a:t>
              </a:r>
              <a:endParaRPr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4833257" y="1246751"/>
              <a:ext cx="3577917" cy="162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50"/>
                <a:buFont typeface="Calibri"/>
                <a:buNone/>
              </a:pPr>
              <a:r>
                <a:rPr lang="en-US" sz="950">
                  <a:solidFill>
                    <a:srgbClr val="64748B"/>
                  </a:solidFill>
                  <a:latin typeface="Calibri"/>
                  <a:ea typeface="Calibri"/>
                  <a:cs typeface="Calibri"/>
                  <a:sym typeface="Calibri"/>
                </a:rPr>
                <a:t>Expires in 3 days · Max 5 sellers can respond</a:t>
              </a:r>
              <a:endParaRPr sz="9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4833257" y="1629316"/>
              <a:ext cx="3577917" cy="14491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1E2B3C"/>
                </a:buClr>
                <a:buSzPts val="1050"/>
                <a:buFont typeface="Calibri"/>
                <a:buNone/>
              </a:pPr>
              <a:r>
                <a:rPr b="1" lang="en-US" sz="1050">
                  <a:solidFill>
                    <a:srgbClr val="1E2B3C"/>
                  </a:solidFill>
                  <a:latin typeface="Calibri"/>
                  <a:ea typeface="Calibri"/>
                  <a:cs typeface="Calibri"/>
                  <a:sym typeface="Calibri"/>
                </a:rPr>
                <a:t>Pause/Unpause</a:t>
              </a:r>
              <a:endParaRPr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4833257" y="1780023"/>
              <a:ext cx="3577917" cy="162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64748B"/>
                </a:buClr>
                <a:buSzPts val="950"/>
                <a:buFont typeface="Calibri"/>
                <a:buNone/>
              </a:pPr>
              <a:r>
                <a:rPr lang="en-US" sz="950">
                  <a:solidFill>
                    <a:srgbClr val="64748B"/>
                  </a:solidFill>
                  <a:latin typeface="Calibri"/>
                  <a:ea typeface="Calibri"/>
                  <a:cs typeface="Calibri"/>
                  <a:sym typeface="Calibri"/>
                </a:rPr>
                <a:t>Ads Paused when BL Count on MCAT&gt;40(Last 3 Days)</a:t>
              </a:r>
              <a:endParaRPr sz="9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8" name="Google Shape;48;p2"/>
            <p:cNvGrpSpPr/>
            <p:nvPr/>
          </p:nvGrpSpPr>
          <p:grpSpPr>
            <a:xfrm>
              <a:off x="4703935" y="2095132"/>
              <a:ext cx="3707239" cy="359379"/>
              <a:chOff x="4703935" y="2684267"/>
              <a:chExt cx="3707239" cy="359379"/>
            </a:xfrm>
          </p:grpSpPr>
          <p:sp>
            <p:nvSpPr>
              <p:cNvPr id="49" name="Google Shape;49;p2"/>
              <p:cNvSpPr/>
              <p:nvPr/>
            </p:nvSpPr>
            <p:spPr>
              <a:xfrm>
                <a:off x="4703935" y="2684267"/>
                <a:ext cx="51729" cy="359379"/>
              </a:xfrm>
              <a:prstGeom prst="rect">
                <a:avLst/>
              </a:prstGeom>
              <a:solidFill>
                <a:srgbClr val="3B82C4"/>
              </a:solidFill>
              <a:ln cap="flat" cmpd="sng" w="12700">
                <a:solidFill>
                  <a:srgbClr val="3B82C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0" name="Google Shape;50;p2"/>
              <p:cNvSpPr/>
              <p:nvPr/>
            </p:nvSpPr>
            <p:spPr>
              <a:xfrm>
                <a:off x="4833257" y="2695860"/>
                <a:ext cx="3577917" cy="14491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1E2B3C"/>
                  </a:buClr>
                  <a:buSzPts val="1050"/>
                  <a:buFont typeface="Calibri"/>
                  <a:buNone/>
                </a:pPr>
                <a:r>
                  <a:rPr b="1" lang="en-US" sz="1050">
                    <a:solidFill>
                      <a:srgbClr val="1E2B3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PMCAT Strategy</a:t>
                </a:r>
                <a:endParaRPr sz="105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1" name="Google Shape;51;p2"/>
              <p:cNvSpPr/>
              <p:nvPr/>
            </p:nvSpPr>
            <p:spPr>
              <a:xfrm>
                <a:off x="4833257" y="2846567"/>
                <a:ext cx="3577917" cy="162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64748B"/>
                  </a:buClr>
                  <a:buSzPts val="950"/>
                  <a:buFont typeface="Calibri"/>
                  <a:buNone/>
                </a:pPr>
                <a:r>
                  <a:rPr lang="en-US" sz="950">
                    <a:solidFill>
                      <a:srgbClr val="64748B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↑ Ads for 0 BL MCATs · ↓ Ads for ≥100 BL MCATs</a:t>
                </a:r>
                <a:endParaRPr sz="95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52" name="Google Shape;52;p2"/>
          <p:cNvGrpSpPr/>
          <p:nvPr/>
        </p:nvGrpSpPr>
        <p:grpSpPr>
          <a:xfrm>
            <a:off x="481366" y="1021187"/>
            <a:ext cx="5599394" cy="1531334"/>
            <a:chOff x="598934" y="886928"/>
            <a:chExt cx="5690242" cy="1531334"/>
          </a:xfrm>
        </p:grpSpPr>
        <p:sp>
          <p:nvSpPr>
            <p:cNvPr id="53" name="Google Shape;53;p2"/>
            <p:cNvSpPr/>
            <p:nvPr/>
          </p:nvSpPr>
          <p:spPr>
            <a:xfrm>
              <a:off x="630938" y="929096"/>
              <a:ext cx="3922776" cy="1489166"/>
            </a:xfrm>
            <a:prstGeom prst="rect">
              <a:avLst/>
            </a:prstGeom>
            <a:solidFill>
              <a:srgbClr val="F0F4FA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54;p2"/>
            <p:cNvSpPr/>
            <p:nvPr/>
          </p:nvSpPr>
          <p:spPr>
            <a:xfrm flipH="1" rot="10800000">
              <a:off x="640630" y="886928"/>
              <a:ext cx="3922776" cy="522514"/>
            </a:xfrm>
            <a:prstGeom prst="rect">
              <a:avLst/>
            </a:prstGeom>
            <a:solidFill>
              <a:srgbClr val="002060"/>
            </a:solidFill>
            <a:ln cap="flat" cmpd="sng" w="12700">
              <a:solidFill>
                <a:srgbClr val="2563A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highlight>
                  <a:srgbClr val="000080"/>
                </a:highlight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2137800" y="991186"/>
              <a:ext cx="4151376" cy="3657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Objective</a:t>
              </a:r>
              <a:endParaRPr b="1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598934" y="1523456"/>
              <a:ext cx="4032504" cy="79392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50">
                  <a:solidFill>
                    <a:srgbClr val="1C4587"/>
                  </a:solidFill>
                  <a:latin typeface="Calibri"/>
                  <a:ea typeface="Calibri"/>
                  <a:cs typeface="Calibri"/>
                  <a:sym typeface="Calibri"/>
                </a:rPr>
                <a:t>“Build intelligent automation &amp; BI solutions</a:t>
              </a:r>
              <a:endParaRPr/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50">
                  <a:solidFill>
                    <a:srgbClr val="1C4587"/>
                  </a:solidFill>
                  <a:latin typeface="Calibri"/>
                  <a:ea typeface="Calibri"/>
                  <a:cs typeface="Calibri"/>
                  <a:sym typeface="Calibri"/>
                </a:rPr>
                <a:t>to drive decisions, maximise BL generation and BL sold revenue across</a:t>
              </a:r>
              <a:endParaRPr/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50">
                  <a:solidFill>
                    <a:srgbClr val="1C4587"/>
                  </a:solidFill>
                  <a:latin typeface="Calibri"/>
                  <a:ea typeface="Calibri"/>
                  <a:cs typeface="Calibri"/>
                  <a:sym typeface="Calibri"/>
                </a:rPr>
                <a:t>IndiaMART’s Marketplace Shopping Ads campaigns.”</a:t>
              </a:r>
              <a:endParaRPr/>
            </a:p>
          </p:txBody>
        </p:sp>
      </p:grpSp>
      <p:grpSp>
        <p:nvGrpSpPr>
          <p:cNvPr id="57" name="Google Shape;57;p2"/>
          <p:cNvGrpSpPr/>
          <p:nvPr/>
        </p:nvGrpSpPr>
        <p:grpSpPr>
          <a:xfrm>
            <a:off x="4901184" y="2774243"/>
            <a:ext cx="2923467" cy="1824331"/>
            <a:chOff x="235457" y="758952"/>
            <a:chExt cx="3749040" cy="2432304"/>
          </a:xfrm>
        </p:grpSpPr>
        <p:sp>
          <p:nvSpPr>
            <p:cNvPr id="58" name="Google Shape;58;p2"/>
            <p:cNvSpPr/>
            <p:nvPr/>
          </p:nvSpPr>
          <p:spPr>
            <a:xfrm>
              <a:off x="235457" y="758952"/>
              <a:ext cx="3749040" cy="64008"/>
            </a:xfrm>
            <a:prstGeom prst="rect">
              <a:avLst/>
            </a:prstGeom>
            <a:solidFill>
              <a:srgbClr val="1C2F6B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372617" y="850392"/>
              <a:ext cx="3474720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1C2F6B"/>
                </a:buClr>
                <a:buSzPts val="1200"/>
                <a:buFont typeface="Calibri"/>
                <a:buNone/>
              </a:pPr>
              <a:r>
                <a:rPr b="1" lang="en-US" sz="1200">
                  <a:solidFill>
                    <a:srgbClr val="1C2F6B"/>
                  </a:solidFill>
                  <a:latin typeface="Calibri"/>
                  <a:ea typeface="Calibri"/>
                  <a:cs typeface="Calibri"/>
                  <a:sym typeface="Calibri"/>
                </a:rPr>
                <a:t>KPI Flag Thresholds</a:t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60;p2"/>
            <p:cNvSpPr/>
            <p:nvPr/>
          </p:nvSpPr>
          <p:spPr>
            <a:xfrm>
              <a:off x="281177" y="1170432"/>
              <a:ext cx="1005840" cy="457200"/>
            </a:xfrm>
            <a:prstGeom prst="rect">
              <a:avLst/>
            </a:prstGeom>
            <a:solidFill>
              <a:srgbClr val="1C2F6B"/>
            </a:solidFill>
            <a:ln cap="flat" cmpd="sng" w="9525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326897" y="1216152"/>
              <a:ext cx="914400" cy="3657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000"/>
                <a:buFont typeface="Calibri"/>
                <a:buNone/>
              </a:pPr>
              <a:r>
                <a:rPr b="1" lang="en-US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Flag</a:t>
              </a:r>
              <a:endPara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1332737" y="1170432"/>
              <a:ext cx="1097280" cy="457200"/>
            </a:xfrm>
            <a:prstGeom prst="rect">
              <a:avLst/>
            </a:prstGeom>
            <a:solidFill>
              <a:srgbClr val="1C2F6B"/>
            </a:solidFill>
            <a:ln cap="flat" cmpd="sng" w="9525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1378457" y="1216152"/>
              <a:ext cx="10058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000"/>
                <a:buFont typeface="Calibri"/>
                <a:buNone/>
              </a:pPr>
              <a:r>
                <a:rPr b="1" lang="en-US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Transactions</a:t>
              </a:r>
              <a:endPara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2475737" y="1170432"/>
              <a:ext cx="1508760" cy="457200"/>
            </a:xfrm>
            <a:prstGeom prst="rect">
              <a:avLst/>
            </a:prstGeom>
            <a:solidFill>
              <a:srgbClr val="1C2F6B"/>
            </a:solidFill>
            <a:ln cap="flat" cmpd="sng" w="9525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2521457" y="1216152"/>
              <a:ext cx="14173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000"/>
                <a:buFont typeface="Calibri"/>
                <a:buNone/>
              </a:pPr>
              <a:r>
                <a:rPr b="1" lang="en-US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Action</a:t>
              </a:r>
              <a:endPara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281177" y="1691640"/>
              <a:ext cx="1005840" cy="457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326897" y="1737360"/>
              <a:ext cx="914400" cy="3657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050"/>
                <a:buFont typeface="Calibri"/>
                <a:buNone/>
              </a:pPr>
              <a:r>
                <a:rPr lang="en-US" sz="1050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🔴 High</a:t>
              </a:r>
              <a:endParaRPr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1332737" y="1691640"/>
              <a:ext cx="1097280" cy="457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1378457" y="1737360"/>
              <a:ext cx="10058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050"/>
                <a:buFont typeface="Calibri"/>
                <a:buNone/>
              </a:pPr>
              <a:r>
                <a:rPr lang="en-US" sz="1050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400+</a:t>
              </a:r>
              <a:endParaRPr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2475737" y="1691640"/>
              <a:ext cx="1508760" cy="457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2521457" y="1737360"/>
              <a:ext cx="14173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050"/>
                <a:buFont typeface="Calibri"/>
                <a:buNone/>
              </a:pPr>
              <a:r>
                <a:rPr lang="en-US" sz="1050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Scale &amp; maintain</a:t>
              </a:r>
              <a:endParaRPr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" name="Google Shape;72;p2"/>
            <p:cNvSpPr/>
            <p:nvPr/>
          </p:nvSpPr>
          <p:spPr>
            <a:xfrm>
              <a:off x="281177" y="2212848"/>
              <a:ext cx="1005840" cy="457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" name="Google Shape;73;p2"/>
            <p:cNvSpPr/>
            <p:nvPr/>
          </p:nvSpPr>
          <p:spPr>
            <a:xfrm>
              <a:off x="326897" y="2258568"/>
              <a:ext cx="914400" cy="3657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050"/>
                <a:buFont typeface="Calibri"/>
                <a:buNone/>
              </a:pPr>
              <a:r>
                <a:rPr lang="en-US" sz="1050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🟡 Medium</a:t>
              </a:r>
              <a:endParaRPr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1332737" y="2212848"/>
              <a:ext cx="1097280" cy="457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75;p2"/>
            <p:cNvSpPr/>
            <p:nvPr/>
          </p:nvSpPr>
          <p:spPr>
            <a:xfrm>
              <a:off x="1378457" y="2258568"/>
              <a:ext cx="10058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050"/>
                <a:buFont typeface="Calibri"/>
                <a:buNone/>
              </a:pPr>
              <a:r>
                <a:rPr lang="en-US" sz="1050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350–400</a:t>
              </a:r>
              <a:endParaRPr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76;p2"/>
            <p:cNvSpPr/>
            <p:nvPr/>
          </p:nvSpPr>
          <p:spPr>
            <a:xfrm>
              <a:off x="2475737" y="2212848"/>
              <a:ext cx="1508760" cy="457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2521457" y="2258568"/>
              <a:ext cx="14173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050"/>
                <a:buFont typeface="Calibri"/>
                <a:buNone/>
              </a:pPr>
              <a:r>
                <a:rPr lang="en-US" sz="1050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Optimise spend</a:t>
              </a:r>
              <a:endParaRPr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78;p2"/>
            <p:cNvSpPr/>
            <p:nvPr/>
          </p:nvSpPr>
          <p:spPr>
            <a:xfrm>
              <a:off x="281177" y="2734056"/>
              <a:ext cx="1005840" cy="457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79;p2"/>
            <p:cNvSpPr/>
            <p:nvPr/>
          </p:nvSpPr>
          <p:spPr>
            <a:xfrm>
              <a:off x="326897" y="2779776"/>
              <a:ext cx="914400" cy="3657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050"/>
                <a:buFont typeface="Calibri"/>
                <a:buNone/>
              </a:pPr>
              <a:r>
                <a:rPr lang="en-US" sz="1050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🟢 Low</a:t>
              </a:r>
              <a:endParaRPr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1332737" y="2734056"/>
              <a:ext cx="1097280" cy="457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81;p2"/>
            <p:cNvSpPr/>
            <p:nvPr/>
          </p:nvSpPr>
          <p:spPr>
            <a:xfrm>
              <a:off x="1378457" y="2779776"/>
              <a:ext cx="10058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050"/>
                <a:buFont typeface="Calibri"/>
                <a:buNone/>
              </a:pPr>
              <a:r>
                <a:rPr lang="en-US" sz="1050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300–350</a:t>
              </a:r>
              <a:endParaRPr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" name="Google Shape;82;p2"/>
            <p:cNvSpPr/>
            <p:nvPr/>
          </p:nvSpPr>
          <p:spPr>
            <a:xfrm>
              <a:off x="2475737" y="2734056"/>
              <a:ext cx="1508760" cy="457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2521457" y="2779776"/>
              <a:ext cx="14173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050"/>
                <a:buFont typeface="Calibri"/>
                <a:buNone/>
              </a:pPr>
              <a:r>
                <a:rPr lang="en-US" sz="1050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Boost ad exposure</a:t>
              </a:r>
              <a:endParaRPr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g3e6a231c308_3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850" y="1035649"/>
            <a:ext cx="7346300" cy="366535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g3e6a231c308_3_0"/>
          <p:cNvSpPr/>
          <p:nvPr/>
        </p:nvSpPr>
        <p:spPr>
          <a:xfrm>
            <a:off x="399070" y="63802"/>
            <a:ext cx="8229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Role &amp; Business Understanding</a:t>
            </a:r>
            <a:endParaRPr sz="1800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6a231c308_3_57"/>
          <p:cNvSpPr txBox="1"/>
          <p:nvPr>
            <p:ph type="title"/>
          </p:nvPr>
        </p:nvSpPr>
        <p:spPr>
          <a:xfrm>
            <a:off x="305159" y="228555"/>
            <a:ext cx="6662700" cy="534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Painpoints- Things I need to automate/what are actual painpoints that I had to automate.</a:t>
            </a:r>
            <a:endParaRPr/>
          </a:p>
        </p:txBody>
      </p:sp>
      <p:sp>
        <p:nvSpPr>
          <p:cNvPr id="95" name="Google Shape;95;g3e6a231c308_3_57"/>
          <p:cNvSpPr/>
          <p:nvPr>
            <p:ph idx="2" type="chart"/>
          </p:nvPr>
        </p:nvSpPr>
        <p:spPr>
          <a:xfrm>
            <a:off x="4354476" y="1242249"/>
            <a:ext cx="3875400" cy="2988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g3e6a231c308_3_57"/>
          <p:cNvSpPr txBox="1"/>
          <p:nvPr>
            <p:ph idx="1" type="body"/>
          </p:nvPr>
        </p:nvSpPr>
        <p:spPr>
          <a:xfrm>
            <a:off x="305159" y="1242249"/>
            <a:ext cx="2749200" cy="9252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"/>
          <p:cNvSpPr/>
          <p:nvPr/>
        </p:nvSpPr>
        <p:spPr>
          <a:xfrm>
            <a:off x="411480" y="136017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Tasks Overview</a:t>
            </a:r>
            <a:endParaRPr sz="1800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3"/>
          <p:cNvSpPr/>
          <p:nvPr/>
        </p:nvSpPr>
        <p:spPr>
          <a:xfrm>
            <a:off x="0" y="4846320"/>
            <a:ext cx="9144000" cy="91440"/>
          </a:xfrm>
          <a:prstGeom prst="rect">
            <a:avLst/>
          </a:prstGeom>
          <a:solidFill>
            <a:srgbClr val="3B82C4"/>
          </a:solidFill>
          <a:ln cap="flat" cmpd="sng" w="12700">
            <a:solidFill>
              <a:srgbClr val="3B82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50"/>
              <a:buFont typeface="Calibri"/>
              <a:buNone/>
            </a:pPr>
            <a:r>
              <a:rPr lang="en-US" sz="7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IndiaMART | Product Management Internship | April 2026</a:t>
            </a:r>
            <a:endParaRPr sz="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04" name="Google Shape;104;p3"/>
          <p:cNvGraphicFramePr/>
          <p:nvPr/>
        </p:nvGraphicFramePr>
        <p:xfrm>
          <a:off x="411480" y="125501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{BA5383E2-82FB-4F88-97F2-8A5A168AEFB1}</a:tableStyleId>
              </a:tblPr>
              <a:tblGrid>
                <a:gridCol w="320050"/>
                <a:gridCol w="2926075"/>
                <a:gridCol w="2423150"/>
                <a:gridCol w="1280150"/>
                <a:gridCol w="1097275"/>
              </a:tblGrid>
              <a:tr h="438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-US" sz="9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#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-US" sz="9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Task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-US" sz="9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Focus Area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-US" sz="9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Status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-US" sz="9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EDD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B3A6B"/>
                    </a:solidFill>
                  </a:tcPr>
                </a:tc>
              </a:tr>
              <a:tr h="438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B3C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E2B3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B3C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-US" sz="950" u="none" cap="none" strike="noStrike">
                          <a:solidFill>
                            <a:srgbClr val="1E2B3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Pause/Unpause MCAT Analysis Automation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MCAT lifecycle &amp; instability tracking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-US" sz="9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Completed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B3C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E2B3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29 Apr 2026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4FA"/>
                    </a:solidFill>
                  </a:tcPr>
                </a:tc>
              </a:tr>
              <a:tr h="438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B3C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E2B3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B3C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-US" sz="950" u="none" cap="none" strike="noStrike">
                          <a:solidFill>
                            <a:srgbClr val="1E2B3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Interactive KPI Dashboard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Real-time ads performance visualization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Completed</a:t>
                      </a: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B3C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E2B3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 May 2026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8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B3C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E2B3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B3C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-US" sz="950" u="none" cap="none" strike="noStrike">
                          <a:solidFill>
                            <a:srgbClr val="1E2B3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Daily KPI Tracker — B&amp;C Campaign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Automating weekly → daily KPI reporting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-US" sz="9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WIP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B3C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E2B3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 Apr 2026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38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B3C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E2B3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B3C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-US" sz="950" u="none" cap="none" strike="noStrike">
                          <a:solidFill>
                            <a:srgbClr val="1E2B3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Active MCAT Ads Data Automation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Fetch live MCATs with active ads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-US" sz="9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WIP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B3C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E2B3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May 2026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4FA"/>
                    </a:solidFill>
                  </a:tcPr>
                </a:tc>
              </a:tr>
              <a:tr h="438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B3C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E2B3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B3C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-US" sz="950" u="none" cap="none" strike="noStrike">
                          <a:solidFill>
                            <a:srgbClr val="1E2B3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Product Label Mismatch Detection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Custom label-3 inconsistency detection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-US" sz="9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On Hold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B3C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cap="none" strike="noStrike">
                          <a:solidFill>
                            <a:srgbClr val="1E2B3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TBD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4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"/>
          <p:cNvSpPr/>
          <p:nvPr/>
        </p:nvSpPr>
        <p:spPr>
          <a:xfrm>
            <a:off x="210312" y="68580"/>
            <a:ext cx="85039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C2F6B"/>
                </a:solidFill>
                <a:latin typeface="Calibri"/>
                <a:ea typeface="Calibri"/>
                <a:cs typeface="Calibri"/>
                <a:sym typeface="Calibri"/>
              </a:rPr>
              <a:t>Task 1: Pause/Unpause MCAT Automation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/>
          <p:nvPr/>
        </p:nvSpPr>
        <p:spPr>
          <a:xfrm>
            <a:off x="0" y="4846320"/>
            <a:ext cx="9144000" cy="91440"/>
          </a:xfrm>
          <a:prstGeom prst="rect">
            <a:avLst/>
          </a:prstGeom>
          <a:solidFill>
            <a:srgbClr val="3B82C4"/>
          </a:solidFill>
          <a:ln cap="flat" cmpd="sng" w="12700">
            <a:solidFill>
              <a:srgbClr val="3B82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1" name="Google Shape;111;p4"/>
          <p:cNvGrpSpPr/>
          <p:nvPr/>
        </p:nvGrpSpPr>
        <p:grpSpPr>
          <a:xfrm>
            <a:off x="214476" y="1701709"/>
            <a:ext cx="6953706" cy="3218972"/>
            <a:chOff x="201168" y="658367"/>
            <a:chExt cx="8916730" cy="4463116"/>
          </a:xfrm>
        </p:grpSpPr>
        <p:sp>
          <p:nvSpPr>
            <p:cNvPr id="112" name="Google Shape;112;p4"/>
            <p:cNvSpPr/>
            <p:nvPr/>
          </p:nvSpPr>
          <p:spPr>
            <a:xfrm>
              <a:off x="201168" y="658368"/>
              <a:ext cx="1993392" cy="4261696"/>
            </a:xfrm>
            <a:prstGeom prst="rect">
              <a:avLst/>
            </a:prstGeom>
            <a:solidFill>
              <a:srgbClr val="FFFFFF"/>
            </a:solidFill>
            <a:ln cap="flat" cmpd="sng" w="101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200" rotWithShape="0" algn="bl" dir="8100000" dist="38100">
                <a:srgbClr val="000000">
                  <a:alpha val="9019"/>
                </a:srgbClr>
              </a:outerShdw>
            </a:effectLst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4"/>
            <p:cNvSpPr/>
            <p:nvPr/>
          </p:nvSpPr>
          <p:spPr>
            <a:xfrm>
              <a:off x="201168" y="658368"/>
              <a:ext cx="1993392" cy="621792"/>
            </a:xfrm>
            <a:prstGeom prst="rect">
              <a:avLst/>
            </a:prstGeom>
            <a:solidFill>
              <a:srgbClr val="2563A8"/>
            </a:solidFill>
            <a:ln cap="flat" cmpd="sng" w="12700">
              <a:solidFill>
                <a:srgbClr val="2563A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" name="Google Shape;114;p4"/>
            <p:cNvSpPr/>
            <p:nvPr/>
          </p:nvSpPr>
          <p:spPr>
            <a:xfrm>
              <a:off x="2459736" y="658367"/>
              <a:ext cx="1993392" cy="4261697"/>
            </a:xfrm>
            <a:prstGeom prst="rect">
              <a:avLst/>
            </a:prstGeom>
            <a:solidFill>
              <a:srgbClr val="FFFFFF"/>
            </a:solidFill>
            <a:ln cap="flat" cmpd="sng" w="101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200" rotWithShape="0" algn="bl" dir="8100000" dist="38100">
                <a:srgbClr val="000000">
                  <a:alpha val="9019"/>
                </a:srgbClr>
              </a:outerShdw>
            </a:effectLst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" name="Google Shape;115;p4"/>
            <p:cNvSpPr/>
            <p:nvPr/>
          </p:nvSpPr>
          <p:spPr>
            <a:xfrm>
              <a:off x="2459736" y="658368"/>
              <a:ext cx="1993392" cy="621792"/>
            </a:xfrm>
            <a:prstGeom prst="rect">
              <a:avLst/>
            </a:prstGeom>
            <a:solidFill>
              <a:srgbClr val="0369A1"/>
            </a:solidFill>
            <a:ln cap="flat" cmpd="sng" w="12700">
              <a:solidFill>
                <a:srgbClr val="0369A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" name="Google Shape;116;p4"/>
            <p:cNvSpPr/>
            <p:nvPr/>
          </p:nvSpPr>
          <p:spPr>
            <a:xfrm>
              <a:off x="4718304" y="658368"/>
              <a:ext cx="1993392" cy="4160520"/>
            </a:xfrm>
            <a:prstGeom prst="rect">
              <a:avLst/>
            </a:prstGeom>
            <a:solidFill>
              <a:srgbClr val="FFFFFF"/>
            </a:solidFill>
            <a:ln cap="flat" cmpd="sng" w="101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200" rotWithShape="0" algn="bl" dir="8100000" dist="38100">
                <a:srgbClr val="000000">
                  <a:alpha val="9019"/>
                </a:srgbClr>
              </a:outerShdw>
            </a:effectLst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" name="Google Shape;117;p4"/>
            <p:cNvSpPr/>
            <p:nvPr/>
          </p:nvSpPr>
          <p:spPr>
            <a:xfrm>
              <a:off x="4718304" y="658368"/>
              <a:ext cx="1993392" cy="621792"/>
            </a:xfrm>
            <a:prstGeom prst="rect">
              <a:avLst/>
            </a:prstGeom>
            <a:solidFill>
              <a:srgbClr val="D97706"/>
            </a:solidFill>
            <a:ln cap="flat" cmpd="sng" w="12700">
              <a:solidFill>
                <a:srgbClr val="D9770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8" name="Google Shape;118;p4"/>
            <p:cNvSpPr/>
            <p:nvPr/>
          </p:nvSpPr>
          <p:spPr>
            <a:xfrm>
              <a:off x="6976872" y="658368"/>
              <a:ext cx="1993392" cy="4160520"/>
            </a:xfrm>
            <a:prstGeom prst="rect">
              <a:avLst/>
            </a:prstGeom>
            <a:solidFill>
              <a:srgbClr val="FFFFFF"/>
            </a:solidFill>
            <a:ln cap="flat" cmpd="sng" w="101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200" rotWithShape="0" algn="bl" dir="8100000" dist="38100">
                <a:srgbClr val="000000">
                  <a:alpha val="9019"/>
                </a:srgbClr>
              </a:outerShdw>
            </a:effectLst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" name="Google Shape;119;p4"/>
            <p:cNvSpPr/>
            <p:nvPr/>
          </p:nvSpPr>
          <p:spPr>
            <a:xfrm>
              <a:off x="6976872" y="658368"/>
              <a:ext cx="1993392" cy="621792"/>
            </a:xfrm>
            <a:prstGeom prst="rect">
              <a:avLst/>
            </a:prstGeom>
            <a:solidFill>
              <a:srgbClr val="16A34A"/>
            </a:solidFill>
            <a:ln cap="flat" cmpd="sng" w="12700">
              <a:solidFill>
                <a:srgbClr val="16A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20" name="Google Shape;120;p4"/>
            <p:cNvGrpSpPr/>
            <p:nvPr/>
          </p:nvGrpSpPr>
          <p:grpSpPr>
            <a:xfrm>
              <a:off x="274320" y="749808"/>
              <a:ext cx="8843578" cy="4371675"/>
              <a:chOff x="274320" y="749808"/>
              <a:chExt cx="8843578" cy="4371675"/>
            </a:xfrm>
          </p:grpSpPr>
          <p:sp>
            <p:nvSpPr>
              <p:cNvPr id="121" name="Google Shape;121;p4"/>
              <p:cNvSpPr/>
              <p:nvPr/>
            </p:nvSpPr>
            <p:spPr>
              <a:xfrm>
                <a:off x="292608" y="749808"/>
                <a:ext cx="347472" cy="347472"/>
              </a:xfrm>
              <a:prstGeom prst="ellipse">
                <a:avLst/>
              </a:prstGeom>
              <a:solidFill>
                <a:srgbClr val="FFFFFF">
                  <a:alpha val="80000"/>
                </a:srgbClr>
              </a:solidFill>
              <a:ln cap="flat" cmpd="sng" w="12700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2" name="Google Shape;122;p4"/>
              <p:cNvSpPr/>
              <p:nvPr/>
            </p:nvSpPr>
            <p:spPr>
              <a:xfrm>
                <a:off x="292608" y="749808"/>
                <a:ext cx="347472" cy="34747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Clr>
                    <a:srgbClr val="2563A8"/>
                  </a:buClr>
                  <a:buSzPts val="900"/>
                  <a:buFont typeface="Calibri"/>
                  <a:buNone/>
                </a:pPr>
                <a:r>
                  <a:rPr b="1" lang="en-US" sz="900">
                    <a:solidFill>
                      <a:srgbClr val="2563A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01</a:t>
                </a:r>
                <a:endParaRPr sz="9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3" name="Google Shape;123;p4"/>
              <p:cNvSpPr/>
              <p:nvPr/>
            </p:nvSpPr>
            <p:spPr>
              <a:xfrm>
                <a:off x="704088" y="749808"/>
                <a:ext cx="457200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Calibri"/>
                  <a:buNone/>
                </a:pPr>
                <a:r>
                  <a:t/>
                </a:r>
                <a:endParaRPr sz="16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4" name="Google Shape;124;p4"/>
              <p:cNvSpPr/>
              <p:nvPr/>
            </p:nvSpPr>
            <p:spPr>
              <a:xfrm>
                <a:off x="274320" y="1280160"/>
                <a:ext cx="1856232" cy="5029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1E2B3C"/>
                  </a:buClr>
                  <a:buSzPts val="1000"/>
                  <a:buFont typeface="Calibri"/>
                  <a:buNone/>
                </a:pPr>
                <a:r>
                  <a:rPr b="1" lang="en-US" sz="1000">
                    <a:solidFill>
                      <a:srgbClr val="1E2B3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Initial</a:t>
                </a:r>
                <a:endParaRPr sz="1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1E2B3C"/>
                  </a:buClr>
                  <a:buSzPts val="1000"/>
                  <a:buFont typeface="Calibri"/>
                  <a:buNone/>
                </a:pPr>
                <a:r>
                  <a:rPr b="1" lang="en-US" sz="1000">
                    <a:solidFill>
                      <a:srgbClr val="1E2B3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Exploration</a:t>
                </a:r>
                <a:endParaRPr sz="1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5" name="Google Shape;125;p4"/>
              <p:cNvSpPr/>
              <p:nvPr/>
            </p:nvSpPr>
            <p:spPr>
              <a:xfrm>
                <a:off x="292608" y="1773936"/>
                <a:ext cx="1828800" cy="205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-342900" lvl="0" marL="34290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1E2B3C"/>
                  </a:buClr>
                  <a:buSzPts val="850"/>
                  <a:buFont typeface="Calibri"/>
                  <a:buChar char="•"/>
                </a:pPr>
                <a:r>
                  <a:rPr lang="en-US" sz="850">
                    <a:solidFill>
                      <a:srgbClr val="1E2B3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Raw pause/unpause data from live sheets</a:t>
                </a:r>
                <a:endParaRPr sz="85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-342900" lvl="0" marL="34290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1E2B3C"/>
                  </a:buClr>
                  <a:buSzPts val="850"/>
                  <a:buFont typeface="Calibri"/>
                  <a:buChar char="•"/>
                </a:pPr>
                <a:r>
                  <a:rPr lang="en-US" sz="850">
                    <a:solidFill>
                      <a:srgbClr val="1E2B3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Pivot: paused vs unpaused MCAT counts</a:t>
                </a:r>
                <a:endParaRPr sz="85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-342900" lvl="0" marL="34290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1E2B3C"/>
                  </a:buClr>
                  <a:buSzPts val="850"/>
                  <a:buFont typeface="Calibri"/>
                  <a:buChar char="•"/>
                </a:pPr>
                <a:r>
                  <a:rPr lang="en-US" sz="850">
                    <a:solidFill>
                      <a:srgbClr val="1E2B3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Instability Score = Pause + Unpause freq.</a:t>
                </a:r>
                <a:endParaRPr sz="85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-342900" lvl="0" marL="34290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1E2B3C"/>
                  </a:buClr>
                  <a:buSzPts val="850"/>
                  <a:buFont typeface="Calibri"/>
                  <a:buChar char="•"/>
                </a:pPr>
                <a:r>
                  <a:rPr lang="en-US" sz="850">
                    <a:solidFill>
                      <a:srgbClr val="1E2B3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Identified top unstable MCATs</a:t>
                </a:r>
                <a:endParaRPr sz="85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6" name="Google Shape;126;p4"/>
              <p:cNvSpPr/>
              <p:nvPr/>
            </p:nvSpPr>
            <p:spPr>
              <a:xfrm>
                <a:off x="313971" y="4030832"/>
                <a:ext cx="1856232" cy="713231"/>
              </a:xfrm>
              <a:prstGeom prst="rect">
                <a:avLst/>
              </a:prstGeom>
              <a:solidFill>
                <a:srgbClr val="FEF2F2"/>
              </a:solidFill>
              <a:ln cap="flat" cmpd="sng" w="9525">
                <a:solidFill>
                  <a:srgbClr val="B91C1C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7" name="Google Shape;127;p4"/>
              <p:cNvSpPr/>
              <p:nvPr/>
            </p:nvSpPr>
            <p:spPr>
              <a:xfrm>
                <a:off x="320040" y="4059193"/>
                <a:ext cx="1792224" cy="2011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B91C1C"/>
                  </a:buClr>
                  <a:buSzPts val="750"/>
                  <a:buFont typeface="Calibri"/>
                  <a:buNone/>
                </a:pPr>
                <a:r>
                  <a:rPr b="1" lang="en-US" sz="750">
                    <a:solidFill>
                      <a:srgbClr val="B91C1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Limitation</a:t>
                </a:r>
                <a:endParaRPr sz="75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8" name="Google Shape;128;p4"/>
              <p:cNvSpPr/>
              <p:nvPr/>
            </p:nvSpPr>
            <p:spPr>
              <a:xfrm>
                <a:off x="338329" y="4225681"/>
                <a:ext cx="1792224" cy="4389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B91C1C"/>
                  </a:buClr>
                  <a:buSzPts val="800"/>
                  <a:buFont typeface="Calibri"/>
                  <a:buNone/>
                </a:pPr>
                <a:r>
                  <a:rPr lang="en-US" sz="800">
                    <a:solidFill>
                      <a:srgbClr val="B91C1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No lifecycle visibility · Missing cycle-level insights</a:t>
                </a:r>
                <a:endParaRPr sz="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29" name="Google Shape;129;p4"/>
              <p:cNvCxnSpPr/>
              <p:nvPr/>
            </p:nvCxnSpPr>
            <p:spPr>
              <a:xfrm>
                <a:off x="2203704" y="2729484"/>
                <a:ext cx="146304" cy="0"/>
              </a:xfrm>
              <a:prstGeom prst="straightConnector1">
                <a:avLst/>
              </a:prstGeom>
              <a:noFill/>
              <a:ln cap="flat" cmpd="sng" w="31750">
                <a:solidFill>
                  <a:srgbClr val="3B82C4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30" name="Google Shape;130;p4"/>
              <p:cNvSpPr/>
              <p:nvPr/>
            </p:nvSpPr>
            <p:spPr>
              <a:xfrm>
                <a:off x="2221992" y="2564892"/>
                <a:ext cx="201168" cy="32918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Clr>
                    <a:srgbClr val="3B82C4"/>
                  </a:buClr>
                  <a:buSzPts val="2000"/>
                  <a:buFont typeface="Calibri"/>
                  <a:buNone/>
                </a:pPr>
                <a:r>
                  <a:rPr b="1" lang="en-US" sz="2000">
                    <a:solidFill>
                      <a:srgbClr val="3B82C4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›</a:t>
                </a:r>
                <a:endParaRPr sz="2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1" name="Google Shape;131;p4"/>
              <p:cNvSpPr/>
              <p:nvPr/>
            </p:nvSpPr>
            <p:spPr>
              <a:xfrm>
                <a:off x="2551176" y="749808"/>
                <a:ext cx="347472" cy="347472"/>
              </a:xfrm>
              <a:prstGeom prst="ellipse">
                <a:avLst/>
              </a:prstGeom>
              <a:solidFill>
                <a:srgbClr val="FFFFFF">
                  <a:alpha val="80000"/>
                </a:srgbClr>
              </a:solidFill>
              <a:ln cap="flat" cmpd="sng" w="12700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2" name="Google Shape;132;p4"/>
              <p:cNvSpPr/>
              <p:nvPr/>
            </p:nvSpPr>
            <p:spPr>
              <a:xfrm>
                <a:off x="2551176" y="749808"/>
                <a:ext cx="347472" cy="34747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Clr>
                    <a:srgbClr val="0369A1"/>
                  </a:buClr>
                  <a:buSzPts val="900"/>
                  <a:buFont typeface="Calibri"/>
                  <a:buNone/>
                </a:pPr>
                <a:r>
                  <a:rPr b="1" lang="en-US" sz="900">
                    <a:solidFill>
                      <a:srgbClr val="0369A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02</a:t>
                </a:r>
                <a:endParaRPr sz="9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3" name="Google Shape;133;p4"/>
              <p:cNvSpPr/>
              <p:nvPr/>
            </p:nvSpPr>
            <p:spPr>
              <a:xfrm>
                <a:off x="2962656" y="749808"/>
                <a:ext cx="457200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Calibri"/>
                  <a:buNone/>
                </a:pPr>
                <a:r>
                  <a:t/>
                </a:r>
                <a:endParaRPr sz="16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4" name="Google Shape;134;p4"/>
              <p:cNvSpPr/>
              <p:nvPr/>
            </p:nvSpPr>
            <p:spPr>
              <a:xfrm>
                <a:off x="2532888" y="1280160"/>
                <a:ext cx="1856232" cy="5029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1E2B3C"/>
                  </a:buClr>
                  <a:buSzPts val="1000"/>
                  <a:buFont typeface="Calibri"/>
                  <a:buNone/>
                </a:pPr>
                <a:r>
                  <a:rPr b="1" lang="en-US" sz="1000">
                    <a:solidFill>
                      <a:srgbClr val="1E2B3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Data Structuring</a:t>
                </a:r>
                <a:endParaRPr sz="1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1E2B3C"/>
                  </a:buClr>
                  <a:buSzPts val="1000"/>
                  <a:buFont typeface="Calibri"/>
                  <a:buNone/>
                </a:pPr>
                <a:r>
                  <a:rPr b="1" lang="en-US" sz="1000">
                    <a:solidFill>
                      <a:srgbClr val="1E2B3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&amp; Merging</a:t>
                </a:r>
                <a:endParaRPr sz="1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5" name="Google Shape;135;p4"/>
              <p:cNvSpPr/>
              <p:nvPr/>
            </p:nvSpPr>
            <p:spPr>
              <a:xfrm>
                <a:off x="2551176" y="1773936"/>
                <a:ext cx="1828800" cy="205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-342900" lvl="0" marL="34290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1E2B3C"/>
                  </a:buClr>
                  <a:buSzPts val="850"/>
                  <a:buFont typeface="Calibri"/>
                  <a:buChar char="•"/>
                </a:pPr>
                <a:r>
                  <a:rPr lang="en-US" sz="850">
                    <a:solidFill>
                      <a:srgbClr val="1E2B3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Unpaused sheet as base dataset</a:t>
                </a:r>
                <a:endParaRPr sz="85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-342900" lvl="0" marL="34290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1E2B3C"/>
                  </a:buClr>
                  <a:buSzPts val="850"/>
                  <a:buFont typeface="Calibri"/>
                  <a:buChar char="•"/>
                </a:pPr>
                <a:r>
                  <a:rPr lang="en-US" sz="850">
                    <a:solidFill>
                      <a:srgbClr val="1E2B3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Merged Pause + Unpause on MCAT ID</a:t>
                </a:r>
                <a:endParaRPr sz="85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-342900" lvl="0" marL="34290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1E2B3C"/>
                  </a:buClr>
                  <a:buSzPts val="850"/>
                  <a:buFont typeface="Calibri"/>
                  <a:buChar char="•"/>
                </a:pPr>
                <a:r>
                  <a:rPr lang="en-US" sz="850">
                    <a:solidFill>
                      <a:srgbClr val="1E2B3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"Currently Paused" flag for unmatched rows</a:t>
                </a:r>
                <a:endParaRPr sz="85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-342900" lvl="0" marL="34290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1E2B3C"/>
                  </a:buClr>
                  <a:buSzPts val="850"/>
                  <a:buFont typeface="Calibri"/>
                  <a:buChar char="•"/>
                </a:pPr>
                <a:r>
                  <a:rPr lang="en-US" sz="850">
                    <a:solidFill>
                      <a:srgbClr val="1E2B3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Cycle tracking: Pause Date(Pause BL) → Unpause Date(Unpause BL)</a:t>
                </a:r>
                <a:endParaRPr sz="85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6" name="Google Shape;136;p4"/>
              <p:cNvSpPr/>
              <p:nvPr/>
            </p:nvSpPr>
            <p:spPr>
              <a:xfrm>
                <a:off x="2551176" y="4030830"/>
                <a:ext cx="1856232" cy="713233"/>
              </a:xfrm>
              <a:prstGeom prst="rect">
                <a:avLst/>
              </a:prstGeom>
              <a:solidFill>
                <a:srgbClr val="FEF2F2"/>
              </a:solidFill>
              <a:ln cap="flat" cmpd="sng" w="9525">
                <a:solidFill>
                  <a:srgbClr val="B91C1C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7" name="Google Shape;137;p4"/>
              <p:cNvSpPr/>
              <p:nvPr/>
            </p:nvSpPr>
            <p:spPr>
              <a:xfrm>
                <a:off x="2542030" y="4062821"/>
                <a:ext cx="1792224" cy="2011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B91C1C"/>
                  </a:buClr>
                  <a:buSzPts val="750"/>
                  <a:buFont typeface="Calibri"/>
                  <a:buNone/>
                </a:pPr>
                <a:r>
                  <a:rPr b="1" lang="en-US" sz="750">
                    <a:solidFill>
                      <a:srgbClr val="B91C1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Limitation</a:t>
                </a:r>
                <a:endParaRPr sz="75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8" name="Google Shape;138;p4"/>
              <p:cNvSpPr/>
              <p:nvPr/>
            </p:nvSpPr>
            <p:spPr>
              <a:xfrm>
                <a:off x="2542029" y="4284570"/>
                <a:ext cx="1984249" cy="4389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-171450" lvl="0" marL="1714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B91C1C"/>
                  </a:buClr>
                  <a:buSzPts val="800"/>
                  <a:buFont typeface="Arial"/>
                  <a:buChar char="•"/>
                </a:pPr>
                <a:r>
                  <a:rPr lang="en-US" sz="800">
                    <a:solidFill>
                      <a:srgbClr val="B91C1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Manual/ Not Automated. </a:t>
                </a:r>
                <a:endParaRPr/>
              </a:p>
              <a:p>
                <a:pPr indent="-171450" lvl="0" marL="1714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B91C1C"/>
                  </a:buClr>
                  <a:buSzPts val="800"/>
                  <a:buFont typeface="Arial"/>
                  <a:buChar char="•"/>
                </a:pPr>
                <a:r>
                  <a:rPr lang="en-US" sz="800">
                    <a:solidFill>
                      <a:srgbClr val="B91C1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Visually Difficult to Understand</a:t>
                </a:r>
                <a:endParaRPr sz="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39" name="Google Shape;139;p4"/>
              <p:cNvCxnSpPr/>
              <p:nvPr/>
            </p:nvCxnSpPr>
            <p:spPr>
              <a:xfrm>
                <a:off x="4462272" y="2729484"/>
                <a:ext cx="146304" cy="0"/>
              </a:xfrm>
              <a:prstGeom prst="straightConnector1">
                <a:avLst/>
              </a:prstGeom>
              <a:noFill/>
              <a:ln cap="flat" cmpd="sng" w="31750">
                <a:solidFill>
                  <a:srgbClr val="3B82C4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40" name="Google Shape;140;p4"/>
              <p:cNvSpPr/>
              <p:nvPr/>
            </p:nvSpPr>
            <p:spPr>
              <a:xfrm>
                <a:off x="4480560" y="2564892"/>
                <a:ext cx="201168" cy="32918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Clr>
                    <a:srgbClr val="3B82C4"/>
                  </a:buClr>
                  <a:buSzPts val="2000"/>
                  <a:buFont typeface="Calibri"/>
                  <a:buNone/>
                </a:pPr>
                <a:r>
                  <a:rPr b="1" lang="en-US" sz="2000">
                    <a:solidFill>
                      <a:srgbClr val="3B82C4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›</a:t>
                </a:r>
                <a:endParaRPr sz="2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41;p4"/>
              <p:cNvSpPr/>
              <p:nvPr/>
            </p:nvSpPr>
            <p:spPr>
              <a:xfrm>
                <a:off x="4809744" y="749808"/>
                <a:ext cx="347472" cy="347472"/>
              </a:xfrm>
              <a:prstGeom prst="ellipse">
                <a:avLst/>
              </a:prstGeom>
              <a:solidFill>
                <a:srgbClr val="FFFFFF">
                  <a:alpha val="80000"/>
                </a:srgbClr>
              </a:solidFill>
              <a:ln cap="flat" cmpd="sng" w="12700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42;p4"/>
              <p:cNvSpPr/>
              <p:nvPr/>
            </p:nvSpPr>
            <p:spPr>
              <a:xfrm>
                <a:off x="4809744" y="749808"/>
                <a:ext cx="347472" cy="34747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Clr>
                    <a:srgbClr val="D97706"/>
                  </a:buClr>
                  <a:buSzPts val="900"/>
                  <a:buFont typeface="Calibri"/>
                  <a:buNone/>
                </a:pPr>
                <a:r>
                  <a:rPr b="1" lang="en-US" sz="900">
                    <a:solidFill>
                      <a:srgbClr val="D9770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03</a:t>
                </a:r>
                <a:endParaRPr sz="9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3" name="Google Shape;143;p4"/>
              <p:cNvSpPr/>
              <p:nvPr/>
            </p:nvSpPr>
            <p:spPr>
              <a:xfrm>
                <a:off x="4791456" y="1280160"/>
                <a:ext cx="1856232" cy="5029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1E2B3C"/>
                  </a:buClr>
                  <a:buSzPts val="1000"/>
                  <a:buFont typeface="Calibri"/>
                  <a:buNone/>
                </a:pPr>
                <a:r>
                  <a:rPr b="1" lang="en-US" sz="1000">
                    <a:solidFill>
                      <a:srgbClr val="1E2B3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Automation</a:t>
                </a:r>
                <a:endParaRPr sz="1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1E2B3C"/>
                  </a:buClr>
                  <a:buSzPts val="1000"/>
                  <a:buFont typeface="Calibri"/>
                  <a:buNone/>
                </a:pPr>
                <a:r>
                  <a:rPr b="1" lang="en-US" sz="1000">
                    <a:solidFill>
                      <a:srgbClr val="1E2B3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Attempt</a:t>
                </a:r>
                <a:endParaRPr sz="1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4" name="Google Shape;144;p4"/>
              <p:cNvSpPr/>
              <p:nvPr/>
            </p:nvSpPr>
            <p:spPr>
              <a:xfrm>
                <a:off x="4809744" y="1773936"/>
                <a:ext cx="1828800" cy="205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-342900" lvl="0" marL="34290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1E2B3C"/>
                  </a:buClr>
                  <a:buSzPts val="850"/>
                  <a:buFont typeface="Calibri"/>
                  <a:buChar char="•"/>
                </a:pPr>
                <a:r>
                  <a:rPr lang="en-US" sz="850">
                    <a:solidFill>
                      <a:srgbClr val="1E2B3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Translated manual logic into LLM automation</a:t>
                </a:r>
                <a:endParaRPr sz="85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-342900" lvl="0" marL="34290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1E2B3C"/>
                  </a:buClr>
                  <a:buSzPts val="850"/>
                  <a:buFont typeface="Calibri"/>
                  <a:buChar char="•"/>
                </a:pPr>
                <a:r>
                  <a:rPr lang="en-US" sz="850">
                    <a:solidFill>
                      <a:srgbClr val="1E2B3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Fetched &amp; processed live sheet data</a:t>
                </a:r>
                <a:endParaRPr sz="85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-342900" lvl="0" marL="34290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1E2B3C"/>
                  </a:buClr>
                  <a:buSzPts val="850"/>
                  <a:buFont typeface="Calibri"/>
                  <a:buChar char="•"/>
                </a:pPr>
                <a:r>
                  <a:rPr lang="en-US" sz="850">
                    <a:solidFill>
                      <a:srgbClr val="1E2B3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Data missing before 8 Apr · bad outputs</a:t>
                </a:r>
                <a:endParaRPr/>
              </a:p>
            </p:txBody>
          </p:sp>
          <p:sp>
            <p:nvSpPr>
              <p:cNvPr id="145" name="Google Shape;145;p4"/>
              <p:cNvSpPr/>
              <p:nvPr/>
            </p:nvSpPr>
            <p:spPr>
              <a:xfrm>
                <a:off x="4782311" y="4031072"/>
                <a:ext cx="1856232" cy="713231"/>
              </a:xfrm>
              <a:prstGeom prst="rect">
                <a:avLst/>
              </a:prstGeom>
              <a:solidFill>
                <a:srgbClr val="FFFBEB"/>
              </a:solidFill>
              <a:ln cap="flat" cmpd="sng" w="9525">
                <a:solidFill>
                  <a:srgbClr val="B45309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6" name="Google Shape;146;p4"/>
              <p:cNvSpPr/>
              <p:nvPr/>
            </p:nvSpPr>
            <p:spPr>
              <a:xfrm>
                <a:off x="4846320" y="4050792"/>
                <a:ext cx="1792224" cy="2011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B45309"/>
                  </a:buClr>
                  <a:buSzPts val="750"/>
                  <a:buFont typeface="Calibri"/>
                  <a:buNone/>
                </a:pPr>
                <a:r>
                  <a:rPr b="1" lang="en-US" sz="750">
                    <a:solidFill>
                      <a:srgbClr val="B45309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Key Decision</a:t>
                </a:r>
                <a:endParaRPr sz="75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7" name="Google Shape;147;p4"/>
              <p:cNvSpPr/>
              <p:nvPr/>
            </p:nvSpPr>
            <p:spPr>
              <a:xfrm>
                <a:off x="4846320" y="4213457"/>
                <a:ext cx="1792224" cy="43891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B45309"/>
                  </a:buClr>
                  <a:buSzPts val="800"/>
                  <a:buFont typeface="Calibri"/>
                  <a:buNone/>
                </a:pPr>
                <a:r>
                  <a:rPr lang="en-US" sz="800">
                    <a:solidFill>
                      <a:srgbClr val="B45309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Reduced scope → last 10 days for clarity &amp; scale</a:t>
                </a:r>
                <a:endParaRPr sz="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48" name="Google Shape;148;p4"/>
              <p:cNvCxnSpPr/>
              <p:nvPr/>
            </p:nvCxnSpPr>
            <p:spPr>
              <a:xfrm>
                <a:off x="6720840" y="2729484"/>
                <a:ext cx="146304" cy="0"/>
              </a:xfrm>
              <a:prstGeom prst="straightConnector1">
                <a:avLst/>
              </a:prstGeom>
              <a:noFill/>
              <a:ln cap="flat" cmpd="sng" w="31750">
                <a:solidFill>
                  <a:srgbClr val="3B82C4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49" name="Google Shape;149;p4"/>
              <p:cNvSpPr/>
              <p:nvPr/>
            </p:nvSpPr>
            <p:spPr>
              <a:xfrm>
                <a:off x="6739128" y="2564892"/>
                <a:ext cx="201168" cy="32918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Clr>
                    <a:srgbClr val="3B82C4"/>
                  </a:buClr>
                  <a:buSzPts val="2000"/>
                  <a:buFont typeface="Calibri"/>
                  <a:buNone/>
                </a:pPr>
                <a:r>
                  <a:rPr b="1" lang="en-US" sz="2000">
                    <a:solidFill>
                      <a:srgbClr val="3B82C4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›</a:t>
                </a:r>
                <a:endParaRPr sz="2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0" name="Google Shape;150;p4"/>
              <p:cNvSpPr/>
              <p:nvPr/>
            </p:nvSpPr>
            <p:spPr>
              <a:xfrm>
                <a:off x="7068312" y="749808"/>
                <a:ext cx="347472" cy="347472"/>
              </a:xfrm>
              <a:prstGeom prst="ellipse">
                <a:avLst/>
              </a:prstGeom>
              <a:solidFill>
                <a:srgbClr val="FFFFFF">
                  <a:alpha val="80000"/>
                </a:srgbClr>
              </a:solidFill>
              <a:ln cap="flat" cmpd="sng" w="12700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1" name="Google Shape;151;p4"/>
              <p:cNvSpPr/>
              <p:nvPr/>
            </p:nvSpPr>
            <p:spPr>
              <a:xfrm>
                <a:off x="7068312" y="749808"/>
                <a:ext cx="347472" cy="34747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Clr>
                    <a:srgbClr val="16A34A"/>
                  </a:buClr>
                  <a:buSzPts val="900"/>
                  <a:buFont typeface="Calibri"/>
                  <a:buNone/>
                </a:pPr>
                <a:r>
                  <a:rPr b="1" lang="en-US" sz="900">
                    <a:solidFill>
                      <a:srgbClr val="16A34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04</a:t>
                </a:r>
                <a:endParaRPr sz="9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2" name="Google Shape;152;p4"/>
              <p:cNvSpPr/>
              <p:nvPr/>
            </p:nvSpPr>
            <p:spPr>
              <a:xfrm>
                <a:off x="7050024" y="1280160"/>
                <a:ext cx="1856232" cy="5029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1E2B3C"/>
                  </a:buClr>
                  <a:buSzPts val="1000"/>
                  <a:buFont typeface="Calibri"/>
                  <a:buNone/>
                </a:pPr>
                <a:r>
                  <a:rPr b="1" lang="en-US" sz="1000">
                    <a:solidFill>
                      <a:srgbClr val="1E2B3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Final Solution</a:t>
                </a:r>
                <a:endParaRPr sz="1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1E2B3C"/>
                  </a:buClr>
                  <a:buSzPts val="1000"/>
                  <a:buFont typeface="Calibri"/>
                  <a:buNone/>
                </a:pPr>
                <a:r>
                  <a:rPr b="1" lang="en-US" sz="1000">
                    <a:solidFill>
                      <a:srgbClr val="1E2B3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(Delivered)</a:t>
                </a:r>
                <a:endParaRPr sz="1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3" name="Google Shape;153;p4"/>
              <p:cNvSpPr/>
              <p:nvPr/>
            </p:nvSpPr>
            <p:spPr>
              <a:xfrm>
                <a:off x="7068312" y="1773936"/>
                <a:ext cx="1828800" cy="205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-342900" lvl="0" marL="34290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1E2B3C"/>
                  </a:buClr>
                  <a:buSzPts val="850"/>
                  <a:buFont typeface="Calibri"/>
                  <a:buChar char="•"/>
                </a:pPr>
                <a:r>
                  <a:rPr lang="en-US" sz="850">
                    <a:solidFill>
                      <a:srgbClr val="1E2B3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Longest Currently Paused MCATs</a:t>
                </a:r>
                <a:endParaRPr/>
              </a:p>
              <a:p>
                <a:pPr indent="-342900" lvl="0" marL="34290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1E2B3C"/>
                  </a:buClr>
                  <a:buSzPts val="850"/>
                  <a:buFont typeface="Calibri"/>
                  <a:buChar char="•"/>
                </a:pPr>
                <a:r>
                  <a:rPr lang="en-US" sz="850">
                    <a:solidFill>
                      <a:srgbClr val="1E2B3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Heatmap-style pause/unpause timeline</a:t>
                </a:r>
                <a:endParaRPr/>
              </a:p>
              <a:p>
                <a:pPr indent="-342900" lvl="0" marL="34290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1E2B3C"/>
                  </a:buClr>
                  <a:buSzPts val="850"/>
                  <a:buFont typeface="Calibri"/>
                  <a:buChar char="•"/>
                </a:pPr>
                <a:r>
                  <a:rPr lang="en-US" sz="850">
                    <a:solidFill>
                      <a:srgbClr val="1E2B3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Count of MCATs paused till today</a:t>
                </a:r>
                <a:endParaRPr/>
              </a:p>
              <a:p>
                <a:pPr indent="-342900" lvl="0" marL="34290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1E2B3C"/>
                  </a:buClr>
                  <a:buSzPts val="850"/>
                  <a:buFont typeface="Calibri"/>
                  <a:buChar char="•"/>
                </a:pPr>
                <a:r>
                  <a:rPr lang="en-US" sz="850">
                    <a:solidFill>
                      <a:srgbClr val="1E2B3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Count of MCATs unpaused today</a:t>
                </a:r>
                <a:endParaRPr sz="85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-342900" lvl="0" marL="34290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rgbClr val="1E2B3C"/>
                  </a:buClr>
                  <a:buSzPts val="850"/>
                  <a:buFont typeface="Calibri"/>
                  <a:buChar char="•"/>
                </a:pPr>
                <a:r>
                  <a:rPr lang="en-US" sz="850">
                    <a:solidFill>
                      <a:srgbClr val="1E2B3C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Daily 9 AM email: Top 10 + Google Sheet attach</a:t>
                </a:r>
                <a:endParaRPr sz="85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4" name="Google Shape;154;p4"/>
              <p:cNvSpPr/>
              <p:nvPr/>
            </p:nvSpPr>
            <p:spPr>
              <a:xfrm>
                <a:off x="6361811" y="3573713"/>
                <a:ext cx="2756087" cy="15477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1" marL="45720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800" u="sng" cap="none" strike="noStrike">
                    <a:solidFill>
                      <a:srgbClr val="548135"/>
                    </a:solidFill>
                    <a:latin typeface="Calibri"/>
                    <a:ea typeface="Calibri"/>
                    <a:cs typeface="Calibri"/>
                    <a:sym typeface="Calibri"/>
                    <a:hlinkClick r:id="rId3">
                      <a:extLst>
                        <a:ext uri="{A12FA001-AC4F-418D-AE19-62706E023703}">
                          <ahyp:hlinkClr val="tx"/>
                        </a:ext>
                      </a:extLst>
                    </a:hlinkClick>
                  </a:rPr>
                  <a:t>MCAT Pause/Unpause Analysis Report | 29-04-2026 - kratika.agarwal@indiamart.com - IndiaMart InterMesh Ltd. Mail</a:t>
                </a:r>
                <a:endParaRPr b="0" i="0" sz="800" u="none" cap="none" strike="noStrike">
                  <a:solidFill>
                    <a:srgbClr val="548135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55" name="Google Shape;155;p4"/>
          <p:cNvGrpSpPr/>
          <p:nvPr/>
        </p:nvGrpSpPr>
        <p:grpSpPr>
          <a:xfrm>
            <a:off x="210313" y="562814"/>
            <a:ext cx="6842736" cy="850391"/>
            <a:chOff x="228600" y="749808"/>
            <a:chExt cx="2852928" cy="1490472"/>
          </a:xfrm>
        </p:grpSpPr>
        <p:sp>
          <p:nvSpPr>
            <p:cNvPr id="156" name="Google Shape;156;p4"/>
            <p:cNvSpPr/>
            <p:nvPr/>
          </p:nvSpPr>
          <p:spPr>
            <a:xfrm>
              <a:off x="228600" y="749808"/>
              <a:ext cx="2852928" cy="1490472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200" rotWithShape="0" algn="bl" dir="8100000" dist="38100">
                <a:srgbClr val="000000">
                  <a:alpha val="7843"/>
                </a:srgbClr>
              </a:outerShdw>
            </a:effectLst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7" name="Google Shape;157;p4"/>
            <p:cNvSpPr/>
            <p:nvPr/>
          </p:nvSpPr>
          <p:spPr>
            <a:xfrm>
              <a:off x="228600" y="749808"/>
              <a:ext cx="2852928" cy="457200"/>
            </a:xfrm>
            <a:prstGeom prst="rect">
              <a:avLst/>
            </a:prstGeom>
            <a:solidFill>
              <a:srgbClr val="DC2626"/>
            </a:solidFill>
            <a:ln cap="flat" cmpd="sng" w="12700">
              <a:solidFill>
                <a:srgbClr val="DC262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8" name="Google Shape;158;p4"/>
            <p:cNvSpPr/>
            <p:nvPr/>
          </p:nvSpPr>
          <p:spPr>
            <a:xfrm>
              <a:off x="312162" y="762682"/>
              <a:ext cx="2651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Calibri"/>
                <a:buNone/>
              </a:pPr>
              <a:r>
                <a:rPr b="1" lang="en-US" sz="1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PROBLEM</a:t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9" name="Google Shape;159;p4"/>
            <p:cNvSpPr/>
            <p:nvPr/>
          </p:nvSpPr>
          <p:spPr>
            <a:xfrm>
              <a:off x="267013" y="1311333"/>
              <a:ext cx="2606040" cy="8046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-342900" lvl="0" marL="342900" marR="0" rtl="0" algn="l">
                <a:spcBef>
                  <a:spcPts val="0"/>
                </a:spcBef>
                <a:spcAft>
                  <a:spcPts val="0"/>
                </a:spcAft>
                <a:buClr>
                  <a:srgbClr val="1E2B3C"/>
                </a:buClr>
                <a:buSzPts val="1050"/>
                <a:buFont typeface="Calibri"/>
                <a:buChar char="•"/>
              </a:pPr>
              <a:r>
                <a:rPr lang="en-US" sz="1050">
                  <a:solidFill>
                    <a:srgbClr val="1E2B3C"/>
                  </a:solidFill>
                  <a:latin typeface="Calibri"/>
                  <a:ea typeface="Calibri"/>
                  <a:cs typeface="Calibri"/>
                  <a:sym typeface="Calibri"/>
                </a:rPr>
                <a:t>No visibility into MCAT pause/unpause behaviour</a:t>
              </a:r>
              <a:endParaRPr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42900" lvl="0" marL="342900" marR="0" rtl="0" algn="l">
                <a:spcBef>
                  <a:spcPts val="0"/>
                </a:spcBef>
                <a:spcAft>
                  <a:spcPts val="0"/>
                </a:spcAft>
                <a:buClr>
                  <a:srgbClr val="1E2B3C"/>
                </a:buClr>
                <a:buSzPts val="1050"/>
                <a:buFont typeface="Calibri"/>
                <a:buChar char="•"/>
              </a:pPr>
              <a:r>
                <a:rPr lang="en-US" sz="1050">
                  <a:solidFill>
                    <a:srgbClr val="1E2B3C"/>
                  </a:solidFill>
                  <a:latin typeface="Calibri"/>
                  <a:ea typeface="Calibri"/>
                  <a:cs typeface="Calibri"/>
                  <a:sym typeface="Calibri"/>
                </a:rPr>
                <a:t>Difficult to identify unstable or inefficient MCATs</a:t>
              </a:r>
              <a:endParaRPr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0" name="Google Shape;160;p4"/>
          <p:cNvGrpSpPr/>
          <p:nvPr/>
        </p:nvGrpSpPr>
        <p:grpSpPr>
          <a:xfrm>
            <a:off x="214476" y="1391925"/>
            <a:ext cx="6838572" cy="267504"/>
            <a:chOff x="116259" y="1362968"/>
            <a:chExt cx="2834640" cy="470107"/>
          </a:xfrm>
        </p:grpSpPr>
        <p:sp>
          <p:nvSpPr>
            <p:cNvPr id="161" name="Google Shape;161;p4"/>
            <p:cNvSpPr/>
            <p:nvPr/>
          </p:nvSpPr>
          <p:spPr>
            <a:xfrm>
              <a:off x="116259" y="1362968"/>
              <a:ext cx="2834640" cy="457200"/>
            </a:xfrm>
            <a:prstGeom prst="rect">
              <a:avLst/>
            </a:prstGeom>
            <a:solidFill>
              <a:srgbClr val="2563A8"/>
            </a:solidFill>
            <a:ln cap="flat" cmpd="sng" w="12700">
              <a:solidFill>
                <a:srgbClr val="2563A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2" name="Google Shape;162;p4"/>
            <p:cNvSpPr/>
            <p:nvPr/>
          </p:nvSpPr>
          <p:spPr>
            <a:xfrm>
              <a:off x="182216" y="1375876"/>
              <a:ext cx="2651760" cy="4571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200"/>
                <a:buFont typeface="Calibri"/>
                <a:buNone/>
              </a:pPr>
              <a:r>
                <a:rPr b="1" lang="en-US" sz="1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APPROACH</a:t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e6a231c308_2_0"/>
          <p:cNvSpPr/>
          <p:nvPr/>
        </p:nvSpPr>
        <p:spPr>
          <a:xfrm>
            <a:off x="0" y="4846320"/>
            <a:ext cx="9144000" cy="91500"/>
          </a:xfrm>
          <a:prstGeom prst="rect">
            <a:avLst/>
          </a:prstGeom>
          <a:solidFill>
            <a:srgbClr val="3B82C4"/>
          </a:solidFill>
          <a:ln cap="flat" cmpd="sng" w="12700">
            <a:solidFill>
              <a:srgbClr val="3B82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g3e6a231c308_2_0"/>
          <p:cNvSpPr/>
          <p:nvPr/>
        </p:nvSpPr>
        <p:spPr>
          <a:xfrm>
            <a:off x="417912" y="183905"/>
            <a:ext cx="85038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C2F6B"/>
                </a:solidFill>
                <a:latin typeface="Calibri"/>
                <a:ea typeface="Calibri"/>
                <a:cs typeface="Calibri"/>
                <a:sym typeface="Calibri"/>
              </a:rPr>
              <a:t>Task 1: Pause/Unpause MCAT Automation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9" name="Google Shape;169;g3e6a231c308_2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903300"/>
            <a:ext cx="3577450" cy="22796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g3e6a231c308_2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29850" y="903300"/>
            <a:ext cx="2794651" cy="2239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g3e6a231c308_2_0"/>
          <p:cNvPicPr preferRelativeResize="0"/>
          <p:nvPr/>
        </p:nvPicPr>
        <p:blipFill rotWithShape="1">
          <a:blip r:embed="rId5">
            <a:alphaModFix/>
          </a:blip>
          <a:srcRect b="-20992" l="0" r="-20992" t="0"/>
          <a:stretch/>
        </p:blipFill>
        <p:spPr>
          <a:xfrm>
            <a:off x="6509350" y="1107125"/>
            <a:ext cx="3277900" cy="1758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g3e6a231c308_2_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411698" y="3294250"/>
            <a:ext cx="2708659" cy="144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g3e6a231c308_2_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34475" y="3307325"/>
            <a:ext cx="2829299" cy="1414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5"/>
          <p:cNvSpPr/>
          <p:nvPr/>
        </p:nvSpPr>
        <p:spPr>
          <a:xfrm>
            <a:off x="438912" y="326571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F6B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1C2F6B"/>
                </a:solidFill>
                <a:latin typeface="Calibri"/>
                <a:ea typeface="Calibri"/>
                <a:cs typeface="Calibri"/>
                <a:sym typeface="Calibri"/>
              </a:rPr>
              <a:t>Task 2: Interactive KPI Dashboard/ All tasks in this one. Hygiene report to be fed here.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5"/>
          <p:cNvSpPr/>
          <p:nvPr/>
        </p:nvSpPr>
        <p:spPr>
          <a:xfrm>
            <a:off x="8046720" y="480060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9 / 11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5"/>
          <p:cNvSpPr/>
          <p:nvPr/>
        </p:nvSpPr>
        <p:spPr>
          <a:xfrm>
            <a:off x="347472" y="960120"/>
            <a:ext cx="4709160" cy="3840480"/>
          </a:xfrm>
          <a:prstGeom prst="rect">
            <a:avLst/>
          </a:prstGeom>
          <a:solidFill>
            <a:srgbClr val="F8FAFC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347472" y="960120"/>
            <a:ext cx="4709160" cy="320040"/>
          </a:xfrm>
          <a:prstGeom prst="rect">
            <a:avLst/>
          </a:prstGeom>
          <a:solidFill>
            <a:srgbClr val="1C2F6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438912" y="987552"/>
            <a:ext cx="4480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📊  KPI Dashboard  (Prototype)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5"/>
          <p:cNvSpPr/>
          <p:nvPr/>
        </p:nvSpPr>
        <p:spPr>
          <a:xfrm>
            <a:off x="457200" y="1353312"/>
            <a:ext cx="14173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5"/>
          <p:cNvSpPr/>
          <p:nvPr/>
        </p:nvSpPr>
        <p:spPr>
          <a:xfrm>
            <a:off x="457200" y="1389888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55A0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1055A0"/>
                </a:solidFill>
                <a:latin typeface="Calibri"/>
                <a:ea typeface="Calibri"/>
                <a:cs typeface="Calibri"/>
                <a:sym typeface="Calibri"/>
              </a:rPr>
              <a:t>₹18.4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5"/>
          <p:cNvSpPr/>
          <p:nvPr/>
        </p:nvSpPr>
        <p:spPr>
          <a:xfrm>
            <a:off x="457200" y="1719072"/>
            <a:ext cx="1417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Cost/Txn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5"/>
          <p:cNvSpPr/>
          <p:nvPr/>
        </p:nvSpPr>
        <p:spPr>
          <a:xfrm>
            <a:off x="1993392" y="1353312"/>
            <a:ext cx="14173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1993392" y="1389888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82%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5"/>
          <p:cNvSpPr/>
          <p:nvPr/>
        </p:nvSpPr>
        <p:spPr>
          <a:xfrm>
            <a:off x="1993392" y="1719072"/>
            <a:ext cx="1417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BL Approved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3529584" y="1353312"/>
            <a:ext cx="14173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5"/>
          <p:cNvSpPr/>
          <p:nvPr/>
        </p:nvSpPr>
        <p:spPr>
          <a:xfrm>
            <a:off x="3529584" y="1389888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1A2B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CC1A2B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5"/>
          <p:cNvSpPr/>
          <p:nvPr/>
        </p:nvSpPr>
        <p:spPr>
          <a:xfrm>
            <a:off x="3529584" y="1719072"/>
            <a:ext cx="1417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Overspend MCATs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5"/>
          <p:cNvSpPr/>
          <p:nvPr/>
        </p:nvSpPr>
        <p:spPr>
          <a:xfrm>
            <a:off x="457200" y="2148840"/>
            <a:ext cx="4480560" cy="13716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93" name="Google Shape;193;p5"/>
          <p:cNvGraphicFramePr/>
          <p:nvPr/>
        </p:nvGraphicFramePr>
        <p:xfrm>
          <a:off x="457200" y="2148840"/>
          <a:ext cx="4480560" cy="1371600"/>
        </p:xfrm>
        <a:graphic>
          <a:graphicData uri="http://schemas.openxmlformats.org/drawingml/2006/chart">
            <c:chart r:id="rId3"/>
          </a:graphicData>
        </a:graphic>
      </p:graphicFrame>
      <p:graphicFrame>
        <p:nvGraphicFramePr>
          <p:cNvPr id="194" name="Google Shape;194;p5"/>
          <p:cNvGraphicFramePr/>
          <p:nvPr/>
        </p:nvGraphicFramePr>
        <p:xfrm>
          <a:off x="457200" y="3611880"/>
          <a:ext cx="2194560" cy="1143000"/>
        </p:xfrm>
        <a:graphic>
          <a:graphicData uri="http://schemas.openxmlformats.org/drawingml/2006/chart">
            <c:chart r:id="rId4"/>
          </a:graphicData>
        </a:graphic>
      </p:graphicFrame>
      <p:sp>
        <p:nvSpPr>
          <p:cNvPr id="195" name="Google Shape;195;p5"/>
          <p:cNvSpPr/>
          <p:nvPr/>
        </p:nvSpPr>
        <p:spPr>
          <a:xfrm>
            <a:off x="2724912" y="3611880"/>
            <a:ext cx="22402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5"/>
          <p:cNvSpPr/>
          <p:nvPr/>
        </p:nvSpPr>
        <p:spPr>
          <a:xfrm>
            <a:off x="2788920" y="3639312"/>
            <a:ext cx="21031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F6B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1C2F6B"/>
                </a:solidFill>
                <a:latin typeface="Calibri"/>
                <a:ea typeface="Calibri"/>
                <a:cs typeface="Calibri"/>
                <a:sym typeface="Calibri"/>
              </a:rPr>
              <a:t>Top Paused MCATs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5"/>
          <p:cNvSpPr/>
          <p:nvPr/>
        </p:nvSpPr>
        <p:spPr>
          <a:xfrm>
            <a:off x="2788920" y="3913632"/>
            <a:ext cx="73152" cy="182880"/>
          </a:xfrm>
          <a:prstGeom prst="rect">
            <a:avLst/>
          </a:prstGeom>
          <a:solidFill>
            <a:srgbClr val="CC1A2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5"/>
          <p:cNvSpPr/>
          <p:nvPr/>
        </p:nvSpPr>
        <p:spPr>
          <a:xfrm>
            <a:off x="2926080" y="3895344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Cotton Drawstring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5"/>
          <p:cNvSpPr/>
          <p:nvPr/>
        </p:nvSpPr>
        <p:spPr>
          <a:xfrm>
            <a:off x="4343400" y="3895344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1A2B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CC1A2B"/>
                </a:solidFill>
                <a:latin typeface="Calibri"/>
                <a:ea typeface="Calibri"/>
                <a:cs typeface="Calibri"/>
                <a:sym typeface="Calibri"/>
              </a:rPr>
              <a:t>8 days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5"/>
          <p:cNvSpPr/>
          <p:nvPr/>
        </p:nvSpPr>
        <p:spPr>
          <a:xfrm>
            <a:off x="2788920" y="4169664"/>
            <a:ext cx="73152" cy="182880"/>
          </a:xfrm>
          <a:prstGeom prst="rect">
            <a:avLst/>
          </a:prstGeom>
          <a:solidFill>
            <a:srgbClr val="CC1A2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5"/>
          <p:cNvSpPr/>
          <p:nvPr/>
        </p:nvSpPr>
        <p:spPr>
          <a:xfrm>
            <a:off x="2926080" y="4151376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Industrial Bolts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5"/>
          <p:cNvSpPr/>
          <p:nvPr/>
        </p:nvSpPr>
        <p:spPr>
          <a:xfrm>
            <a:off x="4343400" y="4151376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1A2B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CC1A2B"/>
                </a:solidFill>
                <a:latin typeface="Calibri"/>
                <a:ea typeface="Calibri"/>
                <a:cs typeface="Calibri"/>
                <a:sym typeface="Calibri"/>
              </a:rPr>
              <a:t>5 days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5"/>
          <p:cNvSpPr/>
          <p:nvPr/>
        </p:nvSpPr>
        <p:spPr>
          <a:xfrm>
            <a:off x="2788920" y="4425696"/>
            <a:ext cx="73152" cy="182880"/>
          </a:xfrm>
          <a:prstGeom prst="rect">
            <a:avLst/>
          </a:prstGeom>
          <a:solidFill>
            <a:srgbClr val="CC1A2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/>
          <p:nvPr/>
        </p:nvSpPr>
        <p:spPr>
          <a:xfrm>
            <a:off x="2926080" y="4407408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LED Panels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/>
          <p:nvPr/>
        </p:nvSpPr>
        <p:spPr>
          <a:xfrm>
            <a:off x="4343400" y="4407408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1A2B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CC1A2B"/>
                </a:solidFill>
                <a:latin typeface="Calibri"/>
                <a:ea typeface="Calibri"/>
                <a:cs typeface="Calibri"/>
                <a:sym typeface="Calibri"/>
              </a:rPr>
              <a:t>4 days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5"/>
          <p:cNvSpPr/>
          <p:nvPr/>
        </p:nvSpPr>
        <p:spPr>
          <a:xfrm>
            <a:off x="5212080" y="960120"/>
            <a:ext cx="3584448" cy="64008"/>
          </a:xfrm>
          <a:prstGeom prst="rect">
            <a:avLst/>
          </a:prstGeom>
          <a:solidFill>
            <a:srgbClr val="0D9B8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5349240" y="1051560"/>
            <a:ext cx="32918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F6B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1C2F6B"/>
                </a:solidFill>
                <a:latin typeface="Calibri"/>
                <a:ea typeface="Calibri"/>
                <a:cs typeface="Calibri"/>
                <a:sym typeface="Calibri"/>
              </a:rPr>
              <a:t>Dashboard Roadmap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5"/>
          <p:cNvSpPr/>
          <p:nvPr/>
        </p:nvSpPr>
        <p:spPr>
          <a:xfrm>
            <a:off x="5321808" y="1417320"/>
            <a:ext cx="109728" cy="228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5"/>
          <p:cNvSpPr/>
          <p:nvPr/>
        </p:nvSpPr>
        <p:spPr>
          <a:xfrm>
            <a:off x="5486400" y="1417320"/>
            <a:ext cx="3154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Phase 1 — Done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10" name="Google Shape;210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13248" y="1737360"/>
            <a:ext cx="164592" cy="164592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5"/>
          <p:cNvSpPr/>
          <p:nvPr/>
        </p:nvSpPr>
        <p:spPr>
          <a:xfrm>
            <a:off x="5650992" y="1709928"/>
            <a:ext cx="301752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Product Ads monthly data loaded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12" name="Google Shape;212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13248" y="1993392"/>
            <a:ext cx="164592" cy="164592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"/>
          <p:cNvSpPr/>
          <p:nvPr/>
        </p:nvSpPr>
        <p:spPr>
          <a:xfrm>
            <a:off x="5650992" y="1965960"/>
            <a:ext cx="301752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KPI metric tiles designed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14" name="Google Shape;214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13248" y="2249424"/>
            <a:ext cx="164592" cy="164592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5"/>
          <p:cNvSpPr/>
          <p:nvPr/>
        </p:nvSpPr>
        <p:spPr>
          <a:xfrm>
            <a:off x="5650992" y="2221992"/>
            <a:ext cx="301752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Cost/Txn bar chart live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5"/>
          <p:cNvSpPr/>
          <p:nvPr/>
        </p:nvSpPr>
        <p:spPr>
          <a:xfrm>
            <a:off x="5321808" y="2606040"/>
            <a:ext cx="109728" cy="228600"/>
          </a:xfrm>
          <a:prstGeom prst="rect">
            <a:avLst/>
          </a:prstGeom>
          <a:solidFill>
            <a:srgbClr val="E86A2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5"/>
          <p:cNvSpPr/>
          <p:nvPr/>
        </p:nvSpPr>
        <p:spPr>
          <a:xfrm>
            <a:off x="5486400" y="2606040"/>
            <a:ext cx="3154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r>
              <a:t>Phase 2 — Done</a:t>
            </a:r>
          </a:p>
        </p:txBody>
      </p:sp>
      <p:pic>
        <p:nvPicPr>
          <p:cNvPr descr="preencoded.png" id="218" name="Google Shape;218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13248" y="2926080"/>
            <a:ext cx="164592" cy="164592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5"/>
          <p:cNvSpPr/>
          <p:nvPr/>
        </p:nvSpPr>
        <p:spPr>
          <a:xfrm>
            <a:off x="5650992" y="2898648"/>
            <a:ext cx="301752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Paused/Unpaused BL Insights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20" name="Google Shape;220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13248" y="3182112"/>
            <a:ext cx="164592" cy="164592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5"/>
          <p:cNvSpPr/>
          <p:nvPr/>
        </p:nvSpPr>
        <p:spPr>
          <a:xfrm>
            <a:off x="5650992" y="3154680"/>
            <a:ext cx="301752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Automated daily data refresh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22" name="Google Shape;222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13248" y="3438144"/>
            <a:ext cx="164592" cy="164592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5"/>
          <p:cNvSpPr/>
          <p:nvPr/>
        </p:nvSpPr>
        <p:spPr>
          <a:xfrm>
            <a:off x="5650992" y="3410712"/>
            <a:ext cx="301752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r>
              <a:t>Campaign Wise Daily, Weekly &amp; Monthly Integration</a:t>
            </a:r>
          </a:p>
        </p:txBody>
      </p:sp>
      <p:sp>
        <p:nvSpPr>
          <p:cNvPr id="224" name="Google Shape;224;p5"/>
          <p:cNvSpPr/>
          <p:nvPr/>
        </p:nvSpPr>
        <p:spPr>
          <a:xfrm>
            <a:off x="5321808" y="3794760"/>
            <a:ext cx="109728" cy="2286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5"/>
          <p:cNvSpPr/>
          <p:nvPr/>
        </p:nvSpPr>
        <p:spPr>
          <a:xfrm>
            <a:off x="5486400" y="3794760"/>
            <a:ext cx="3154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r>
              <a:t>Phase 3 — Done</a:t>
            </a:r>
          </a:p>
        </p:txBody>
      </p:sp>
      <p:pic>
        <p:nvPicPr>
          <p:cNvPr descr="preencoded.png" id="226" name="Google Shape;226;p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413248" y="4114800"/>
            <a:ext cx="164592" cy="164592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5"/>
          <p:cNvSpPr/>
          <p:nvPr/>
        </p:nvSpPr>
        <p:spPr>
          <a:xfrm>
            <a:off x="5650992" y="4087368"/>
            <a:ext cx="301752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r>
              <a:t>Live DB feed via Redshift (Prod/Dev pools)</a:t>
            </a:r>
          </a:p>
        </p:txBody>
      </p:sp>
      <p:sp>
        <p:nvSpPr>
          <p:cNvPr id="228" name="Google Shape;228;p5"/>
          <p:cNvSpPr txBox="1"/>
          <p:nvPr/>
        </p:nvSpPr>
        <p:spPr>
          <a:xfrm>
            <a:off x="5257800" y="4379976"/>
            <a:ext cx="3886200" cy="6519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8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Product Ads Dashboard — Monthly Report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6"/>
          <p:cNvSpPr/>
          <p:nvPr/>
        </p:nvSpPr>
        <p:spPr>
          <a:xfrm>
            <a:off x="502920" y="256032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F6B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1C2F6B"/>
                </a:solidFill>
                <a:latin typeface="Calibri"/>
                <a:ea typeface="Calibri"/>
                <a:cs typeface="Calibri"/>
                <a:sym typeface="Calibri"/>
              </a:rPr>
              <a:t>Task 3: Daily KPI Tracker — B&amp;C Ads Campaign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8046720" y="480060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7 / 11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6"/>
          <p:cNvSpPr/>
          <p:nvPr/>
        </p:nvSpPr>
        <p:spPr>
          <a:xfrm>
            <a:off x="338328" y="973184"/>
            <a:ext cx="4142232" cy="2817006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347472" y="987552"/>
            <a:ext cx="4160520" cy="365760"/>
          </a:xfrm>
          <a:prstGeom prst="rect">
            <a:avLst/>
          </a:prstGeom>
          <a:solidFill>
            <a:srgbClr val="CC1A2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6"/>
          <p:cNvSpPr/>
          <p:nvPr/>
        </p:nvSpPr>
        <p:spPr>
          <a:xfrm>
            <a:off x="484632" y="1005840"/>
            <a:ext cx="3931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BEFORE  (Manual)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38" name="Google Shape;23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52" y="1490472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6"/>
          <p:cNvSpPr/>
          <p:nvPr/>
        </p:nvSpPr>
        <p:spPr>
          <a:xfrm>
            <a:off x="822960" y="1463040"/>
            <a:ext cx="352044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Weekly copy-paste of prior week's values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40" name="Google Shape;24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52" y="2020824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6"/>
          <p:cNvSpPr/>
          <p:nvPr/>
        </p:nvSpPr>
        <p:spPr>
          <a:xfrm>
            <a:off x="822960" y="1993392"/>
            <a:ext cx="352044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New column with formulas added manually each week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42" name="Google Shape;242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52" y="2551176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"/>
          <p:cNvSpPr/>
          <p:nvPr/>
        </p:nvSpPr>
        <p:spPr>
          <a:xfrm>
            <a:off x="822960" y="2523744"/>
            <a:ext cx="352044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DBeaver access not provisioned → blocked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44" name="Google Shape;244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52" y="308152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6"/>
          <p:cNvSpPr/>
          <p:nvPr/>
        </p:nvSpPr>
        <p:spPr>
          <a:xfrm>
            <a:off x="822960" y="3054096"/>
            <a:ext cx="352044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Google Ads data restricted access to run scripts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6"/>
          <p:cNvSpPr/>
          <p:nvPr/>
        </p:nvSpPr>
        <p:spPr>
          <a:xfrm>
            <a:off x="4645152" y="987553"/>
            <a:ext cx="4160520" cy="2802636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6"/>
          <p:cNvSpPr/>
          <p:nvPr/>
        </p:nvSpPr>
        <p:spPr>
          <a:xfrm>
            <a:off x="4645152" y="987552"/>
            <a:ext cx="416052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6"/>
          <p:cNvSpPr/>
          <p:nvPr/>
        </p:nvSpPr>
        <p:spPr>
          <a:xfrm>
            <a:off x="4782312" y="1005840"/>
            <a:ext cx="3931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AFTER  (Automated)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49" name="Google Shape;249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28032" y="1490472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6"/>
          <p:cNvSpPr/>
          <p:nvPr/>
        </p:nvSpPr>
        <p:spPr>
          <a:xfrm>
            <a:off x="5120640" y="1463040"/>
            <a:ext cx="352044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App Script auto-appends column on schedule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51" name="Google Shape;251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28032" y="2020824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6"/>
          <p:cNvSpPr/>
          <p:nvPr/>
        </p:nvSpPr>
        <p:spPr>
          <a:xfrm>
            <a:off x="5120640" y="1993392"/>
            <a:ext cx="352044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Values copied programmatically — no manual step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53" name="Google Shape;253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28032" y="2551176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"/>
          <p:cNvSpPr/>
          <p:nvPr/>
        </p:nvSpPr>
        <p:spPr>
          <a:xfrm>
            <a:off x="5120640" y="2523744"/>
            <a:ext cx="352044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DBeaver credentials obtained from Kishalay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55" name="Google Shape;255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28032" y="308152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6"/>
          <p:cNvSpPr/>
          <p:nvPr/>
        </p:nvSpPr>
        <p:spPr>
          <a:xfrm>
            <a:off x="5120640" y="3054096"/>
            <a:ext cx="352044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Ads data fed from Vishal's live sheet (real-time)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7" name="Google Shape;257;p6"/>
          <p:cNvCxnSpPr/>
          <p:nvPr/>
        </p:nvCxnSpPr>
        <p:spPr>
          <a:xfrm>
            <a:off x="4251960" y="2423160"/>
            <a:ext cx="640080" cy="640080"/>
          </a:xfrm>
          <a:prstGeom prst="straightConnector1">
            <a:avLst/>
          </a:prstGeom>
          <a:solidFill>
            <a:srgbClr val="1C2F6B"/>
          </a:solidFill>
          <a:ln>
            <a:noFill/>
          </a:ln>
        </p:spPr>
      </p:cxnSp>
      <p:sp>
        <p:nvSpPr>
          <p:cNvPr id="258" name="Google Shape;258;p6"/>
          <p:cNvSpPr/>
          <p:nvPr/>
        </p:nvSpPr>
        <p:spPr>
          <a:xfrm>
            <a:off x="4251960" y="242316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6"/>
          <p:cNvSpPr/>
          <p:nvPr/>
        </p:nvSpPr>
        <p:spPr>
          <a:xfrm>
            <a:off x="278892" y="4078226"/>
            <a:ext cx="8458200" cy="809242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60" name="Google Shape;260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29768" y="417423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6"/>
          <p:cNvSpPr/>
          <p:nvPr/>
        </p:nvSpPr>
        <p:spPr>
          <a:xfrm>
            <a:off x="914400" y="4315968"/>
            <a:ext cx="7955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11125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Arial"/>
              <a:buNone/>
            </a:pPr>
            <a:r>
              <a:t/>
            </a:r>
            <a:endParaRPr i="1" sz="950">
              <a:solidFill>
                <a:srgbClr val="E86A2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950">
                <a:solidFill>
                  <a:srgbClr val="E86A2A"/>
                </a:solidFill>
                <a:latin typeface="Calibri"/>
                <a:ea typeface="Calibri"/>
                <a:cs typeface="Calibri"/>
                <a:sym typeface="Calibri"/>
              </a:rPr>
              <a:t>In Progress: </a:t>
            </a:r>
            <a:r>
              <a:rPr lang="en-US" sz="1000" u="sng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Daily Tracker - Google Sheets</a:t>
            </a:r>
            <a:endParaRPr i="1" sz="95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1125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Arial"/>
              <a:buNone/>
            </a:pPr>
            <a:r>
              <a:t/>
            </a:r>
            <a:endParaRPr i="1" sz="950">
              <a:solidFill>
                <a:srgbClr val="E86A2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E86A2A"/>
              </a:buClr>
              <a:buSzPts val="950"/>
              <a:buFont typeface="Arial"/>
              <a:buChar char="•"/>
            </a:pPr>
            <a:r>
              <a:rPr i="1" lang="en-US" sz="950">
                <a:solidFill>
                  <a:srgbClr val="E86A2A"/>
                </a:solidFill>
                <a:latin typeface="Calibri"/>
                <a:ea typeface="Calibri"/>
                <a:cs typeface="Calibri"/>
                <a:sym typeface="Calibri"/>
              </a:rPr>
              <a:t>PostgreSQL connection intermittently dropping — investigation to be done with Kishalay.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E86A2A"/>
              </a:buClr>
              <a:buSzPts val="950"/>
              <a:buFont typeface="Arial"/>
              <a:buChar char="•"/>
            </a:pPr>
            <a:r>
              <a:rPr i="1" lang="en-US" sz="950">
                <a:solidFill>
                  <a:srgbClr val="E86A2A"/>
                </a:solidFill>
                <a:latin typeface="Calibri"/>
                <a:ea typeface="Calibri"/>
                <a:cs typeface="Calibri"/>
                <a:sym typeface="Calibri"/>
              </a:rPr>
              <a:t>Extend to other campaigns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E86A2A"/>
              </a:buClr>
              <a:buSzPts val="950"/>
              <a:buFont typeface="Arial"/>
              <a:buChar char="•"/>
            </a:pPr>
            <a:r>
              <a:rPr i="1" lang="en-US" sz="950">
                <a:solidFill>
                  <a:srgbClr val="E86A2A"/>
                </a:solidFill>
                <a:latin typeface="Calibri"/>
                <a:ea typeface="Calibri"/>
                <a:cs typeface="Calibri"/>
                <a:sym typeface="Calibri"/>
              </a:rPr>
              <a:t>Diagnose the NaN values being sent over email</a:t>
            </a:r>
            <a:endParaRPr/>
          </a:p>
          <a:p>
            <a:pPr indent="-111125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Arial"/>
              <a:buNone/>
            </a:pPr>
            <a:r>
              <a:t/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7"/>
          <p:cNvSpPr/>
          <p:nvPr/>
        </p:nvSpPr>
        <p:spPr>
          <a:xfrm>
            <a:off x="502920" y="256032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F6B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1C2F6B"/>
                </a:solidFill>
                <a:latin typeface="Calibri"/>
                <a:ea typeface="Calibri"/>
                <a:cs typeface="Calibri"/>
                <a:sym typeface="Calibri"/>
              </a:rPr>
              <a:t>Task 3: Daily KPI Tracker — B&amp;C Ads Campaign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7"/>
          <p:cNvSpPr/>
          <p:nvPr/>
        </p:nvSpPr>
        <p:spPr>
          <a:xfrm>
            <a:off x="278892" y="4078226"/>
            <a:ext cx="8458200" cy="809242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8" name="Google Shape;268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7958" y="901564"/>
            <a:ext cx="3543224" cy="3129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01904" y="901564"/>
            <a:ext cx="2397759" cy="324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8"/>
          <p:cNvSpPr/>
          <p:nvPr/>
        </p:nvSpPr>
        <p:spPr>
          <a:xfrm>
            <a:off x="347472" y="274320"/>
            <a:ext cx="64008" cy="685800"/>
          </a:xfrm>
          <a:prstGeom prst="rect">
            <a:avLst/>
          </a:prstGeom>
          <a:solidFill>
            <a:srgbClr val="CC1A2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8"/>
          <p:cNvSpPr/>
          <p:nvPr/>
        </p:nvSpPr>
        <p:spPr>
          <a:xfrm>
            <a:off x="502920" y="256032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F6B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1C2F6B"/>
                </a:solidFill>
                <a:latin typeface="Calibri"/>
                <a:ea typeface="Calibri"/>
                <a:cs typeface="Calibri"/>
                <a:sym typeface="Calibri"/>
              </a:rPr>
              <a:t>Task 4: Automating Active MCAT Data Fetch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8"/>
          <p:cNvSpPr/>
          <p:nvPr/>
        </p:nvSpPr>
        <p:spPr>
          <a:xfrm>
            <a:off x="502920" y="585216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Building a live SQL pipeline to replace manual Mesh lookups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8"/>
          <p:cNvSpPr/>
          <p:nvPr/>
        </p:nvSpPr>
        <p:spPr>
          <a:xfrm>
            <a:off x="8046720" y="480060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8 / 11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8"/>
          <p:cNvSpPr/>
          <p:nvPr/>
        </p:nvSpPr>
        <p:spPr>
          <a:xfrm>
            <a:off x="5285232" y="960120"/>
            <a:ext cx="3520440" cy="1600200"/>
          </a:xfrm>
          <a:prstGeom prst="rect">
            <a:avLst/>
          </a:prstGeom>
          <a:solidFill>
            <a:srgbClr val="F7F9FC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8"/>
          <p:cNvSpPr/>
          <p:nvPr/>
        </p:nvSpPr>
        <p:spPr>
          <a:xfrm>
            <a:off x="5285232" y="960120"/>
            <a:ext cx="3520440" cy="64008"/>
          </a:xfrm>
          <a:prstGeom prst="rect">
            <a:avLst/>
          </a:prstGeom>
          <a:solidFill>
            <a:srgbClr val="0D9B8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8"/>
          <p:cNvSpPr/>
          <p:nvPr/>
        </p:nvSpPr>
        <p:spPr>
          <a:xfrm>
            <a:off x="5422392" y="1051560"/>
            <a:ext cx="3246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F6B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1C2F6B"/>
                </a:solidFill>
                <a:latin typeface="Calibri"/>
                <a:ea typeface="Calibri"/>
                <a:cs typeface="Calibri"/>
                <a:sym typeface="Calibri"/>
              </a:rPr>
              <a:t>Tables Joined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81" name="Google Shape;281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76672" y="13716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8"/>
          <p:cNvSpPr/>
          <p:nvPr/>
        </p:nvSpPr>
        <p:spPr>
          <a:xfrm>
            <a:off x="5623560" y="1353312"/>
            <a:ext cx="3063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glcat_mcat_addn_attributes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83" name="Google Shape;28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76672" y="1664208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8"/>
          <p:cNvSpPr/>
          <p:nvPr/>
        </p:nvSpPr>
        <p:spPr>
          <a:xfrm>
            <a:off x="5623560" y="1645920"/>
            <a:ext cx="3063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iil_google_ads_lable_master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85" name="Google Shape;285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76672" y="1956816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8"/>
          <p:cNvSpPr/>
          <p:nvPr/>
        </p:nvSpPr>
        <p:spPr>
          <a:xfrm>
            <a:off x="5623560" y="1938528"/>
            <a:ext cx="3063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dim_glcat_mcat (dim)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87" name="Google Shape;287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76672" y="2249424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8"/>
          <p:cNvSpPr/>
          <p:nvPr/>
        </p:nvSpPr>
        <p:spPr>
          <a:xfrm>
            <a:off x="5623560" y="2231136"/>
            <a:ext cx="3063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fact_iil_google_ads_eligibility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8"/>
          <p:cNvSpPr/>
          <p:nvPr/>
        </p:nvSpPr>
        <p:spPr>
          <a:xfrm>
            <a:off x="5285232" y="2670048"/>
            <a:ext cx="109728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8"/>
          <p:cNvSpPr/>
          <p:nvPr/>
        </p:nvSpPr>
        <p:spPr>
          <a:xfrm>
            <a:off x="5285232" y="2670048"/>
            <a:ext cx="1097280" cy="54864"/>
          </a:xfrm>
          <a:prstGeom prst="rect">
            <a:avLst/>
          </a:prstGeom>
          <a:solidFill>
            <a:srgbClr val="1055A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5330952" y="2743200"/>
            <a:ext cx="1005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55A0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1055A0"/>
                </a:solidFill>
                <a:latin typeface="Calibri"/>
                <a:ea typeface="Calibri"/>
                <a:cs typeface="Calibri"/>
                <a:sym typeface="Calibri"/>
              </a:rPr>
              <a:t>13,351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8"/>
          <p:cNvSpPr/>
          <p:nvPr/>
        </p:nvSpPr>
        <p:spPr>
          <a:xfrm>
            <a:off x="5330952" y="3182112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Records fetched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8"/>
          <p:cNvSpPr/>
          <p:nvPr/>
        </p:nvSpPr>
        <p:spPr>
          <a:xfrm>
            <a:off x="6473952" y="2670048"/>
            <a:ext cx="109728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8"/>
          <p:cNvSpPr/>
          <p:nvPr/>
        </p:nvSpPr>
        <p:spPr>
          <a:xfrm>
            <a:off x="6473952" y="2670048"/>
            <a:ext cx="1097280" cy="54864"/>
          </a:xfrm>
          <a:prstGeom prst="rect">
            <a:avLst/>
          </a:prstGeom>
          <a:solidFill>
            <a:srgbClr val="E86A2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8"/>
          <p:cNvSpPr/>
          <p:nvPr/>
        </p:nvSpPr>
        <p:spPr>
          <a:xfrm>
            <a:off x="6519672" y="2743200"/>
            <a:ext cx="1005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6A2A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E86A2A"/>
                </a:solidFill>
                <a:latin typeface="Calibri"/>
                <a:ea typeface="Calibri"/>
                <a:cs typeface="Calibri"/>
                <a:sym typeface="Calibri"/>
              </a:rPr>
              <a:t>~19K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8"/>
          <p:cNvSpPr/>
          <p:nvPr/>
        </p:nvSpPr>
        <p:spPr>
          <a:xfrm>
            <a:off x="6519672" y="3182112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Expected (Mesh)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8"/>
          <p:cNvSpPr/>
          <p:nvPr/>
        </p:nvSpPr>
        <p:spPr>
          <a:xfrm>
            <a:off x="7662672" y="2670048"/>
            <a:ext cx="109728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8"/>
          <p:cNvSpPr/>
          <p:nvPr/>
        </p:nvSpPr>
        <p:spPr>
          <a:xfrm>
            <a:off x="7662672" y="2670048"/>
            <a:ext cx="1097280" cy="54864"/>
          </a:xfrm>
          <a:prstGeom prst="rect">
            <a:avLst/>
          </a:prstGeom>
          <a:solidFill>
            <a:srgbClr val="0D9B8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8"/>
          <p:cNvSpPr/>
          <p:nvPr/>
        </p:nvSpPr>
        <p:spPr>
          <a:xfrm>
            <a:off x="7708392" y="2743200"/>
            <a:ext cx="1005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B8A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0D9B8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8"/>
          <p:cNvSpPr/>
          <p:nvPr/>
        </p:nvSpPr>
        <p:spPr>
          <a:xfrm>
            <a:off x="7708392" y="3182112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Fields retrieved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8"/>
          <p:cNvSpPr/>
          <p:nvPr/>
        </p:nvSpPr>
        <p:spPr>
          <a:xfrm>
            <a:off x="5285232" y="3749040"/>
            <a:ext cx="3520440" cy="685800"/>
          </a:xfrm>
          <a:prstGeom prst="rect">
            <a:avLst/>
          </a:prstGeom>
          <a:solidFill>
            <a:srgbClr val="FEF2F2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8"/>
          <p:cNvSpPr/>
          <p:nvPr/>
        </p:nvSpPr>
        <p:spPr>
          <a:xfrm>
            <a:off x="5285232" y="3749040"/>
            <a:ext cx="64008" cy="685800"/>
          </a:xfrm>
          <a:prstGeom prst="rect">
            <a:avLst/>
          </a:prstGeom>
          <a:solidFill>
            <a:srgbClr val="CC1A2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8"/>
          <p:cNvSpPr/>
          <p:nvPr/>
        </p:nvSpPr>
        <p:spPr>
          <a:xfrm>
            <a:off x="5422392" y="3776472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1A2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CC1A2B"/>
                </a:solidFill>
                <a:latin typeface="Calibri"/>
                <a:ea typeface="Calibri"/>
                <a:cs typeface="Calibri"/>
                <a:sym typeface="Calibri"/>
              </a:rPr>
              <a:t>⚠  Gap: 13,351 vs ~19K records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8"/>
          <p:cNvSpPr/>
          <p:nvPr/>
        </p:nvSpPr>
        <p:spPr>
          <a:xfrm>
            <a:off x="5422392" y="4041648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Investigating eligibility filter logic + BL_Approved join condition.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5" name="Google Shape;305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8328" y="1103375"/>
            <a:ext cx="4855464" cy="28612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9"/>
          <p:cNvSpPr/>
          <p:nvPr/>
        </p:nvSpPr>
        <p:spPr>
          <a:xfrm>
            <a:off x="502920" y="256032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F6B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1C2F6B"/>
                </a:solidFill>
                <a:latin typeface="Calibri"/>
                <a:ea typeface="Calibri"/>
                <a:cs typeface="Calibri"/>
                <a:sym typeface="Calibri"/>
              </a:rPr>
              <a:t>Task 5: Product Label Mismatch Detection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9"/>
          <p:cNvSpPr/>
          <p:nvPr/>
        </p:nvSpPr>
        <p:spPr>
          <a:xfrm>
            <a:off x="8046720" y="480060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6 / 11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9"/>
          <p:cNvSpPr/>
          <p:nvPr/>
        </p:nvSpPr>
        <p:spPr>
          <a:xfrm>
            <a:off x="347472" y="1005840"/>
            <a:ext cx="43434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9"/>
          <p:cNvSpPr/>
          <p:nvPr/>
        </p:nvSpPr>
        <p:spPr>
          <a:xfrm>
            <a:off x="347472" y="1005840"/>
            <a:ext cx="64008" cy="749808"/>
          </a:xfrm>
          <a:prstGeom prst="rect">
            <a:avLst/>
          </a:prstGeom>
          <a:solidFill>
            <a:srgbClr val="1055A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4" name="Google Shape;314;p9"/>
          <p:cNvCxnSpPr/>
          <p:nvPr/>
        </p:nvCxnSpPr>
        <p:spPr>
          <a:xfrm>
            <a:off x="502920" y="1170432"/>
            <a:ext cx="411480" cy="411480"/>
          </a:xfrm>
          <a:prstGeom prst="straightConnector1">
            <a:avLst/>
          </a:prstGeom>
          <a:solidFill>
            <a:srgbClr val="1055A0"/>
          </a:solidFill>
          <a:ln>
            <a:noFill/>
          </a:ln>
        </p:spPr>
      </p:cxnSp>
      <p:sp>
        <p:nvSpPr>
          <p:cNvPr id="315" name="Google Shape;315;p9"/>
          <p:cNvSpPr/>
          <p:nvPr/>
        </p:nvSpPr>
        <p:spPr>
          <a:xfrm>
            <a:off x="502920" y="1170432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/>
          <p:nvPr/>
        </p:nvSpPr>
        <p:spPr>
          <a:xfrm>
            <a:off x="1005840" y="1051560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F6B"/>
              </a:buClr>
              <a:buSzPts val="1150"/>
              <a:buFont typeface="Calibri"/>
              <a:buNone/>
            </a:pPr>
            <a:r>
              <a:rPr b="1" lang="en-US" sz="1150">
                <a:solidFill>
                  <a:srgbClr val="1C2F6B"/>
                </a:solidFill>
                <a:latin typeface="Calibri"/>
                <a:ea typeface="Calibri"/>
                <a:cs typeface="Calibri"/>
                <a:sym typeface="Calibri"/>
              </a:rPr>
              <a:t>Google Ads Report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/>
          <p:nvPr/>
        </p:nvSpPr>
        <p:spPr>
          <a:xfrm>
            <a:off x="1005840" y="1353312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Product-level Custom Label 3 data downloaded from Google Ads console.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9"/>
          <p:cNvSpPr/>
          <p:nvPr/>
        </p:nvSpPr>
        <p:spPr>
          <a:xfrm>
            <a:off x="713232" y="1755648"/>
            <a:ext cx="36576" cy="2103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9"/>
          <p:cNvSpPr/>
          <p:nvPr/>
        </p:nvSpPr>
        <p:spPr>
          <a:xfrm>
            <a:off x="347472" y="1965960"/>
            <a:ext cx="43434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9"/>
          <p:cNvSpPr/>
          <p:nvPr/>
        </p:nvSpPr>
        <p:spPr>
          <a:xfrm>
            <a:off x="347472" y="1965960"/>
            <a:ext cx="64008" cy="749808"/>
          </a:xfrm>
          <a:prstGeom prst="rect">
            <a:avLst/>
          </a:prstGeom>
          <a:solidFill>
            <a:srgbClr val="0D9B8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1" name="Google Shape;321;p9"/>
          <p:cNvCxnSpPr/>
          <p:nvPr/>
        </p:nvCxnSpPr>
        <p:spPr>
          <a:xfrm>
            <a:off x="502920" y="2130552"/>
            <a:ext cx="411480" cy="411480"/>
          </a:xfrm>
          <a:prstGeom prst="straightConnector1">
            <a:avLst/>
          </a:prstGeom>
          <a:solidFill>
            <a:srgbClr val="0D9B8A"/>
          </a:solidFill>
          <a:ln>
            <a:noFill/>
          </a:ln>
        </p:spPr>
      </p:cxnSp>
      <p:sp>
        <p:nvSpPr>
          <p:cNvPr id="322" name="Google Shape;322;p9"/>
          <p:cNvSpPr/>
          <p:nvPr/>
        </p:nvSpPr>
        <p:spPr>
          <a:xfrm>
            <a:off x="502920" y="2130552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9"/>
          <p:cNvSpPr/>
          <p:nvPr/>
        </p:nvSpPr>
        <p:spPr>
          <a:xfrm>
            <a:off x="1005840" y="2011680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F6B"/>
              </a:buClr>
              <a:buSzPts val="1150"/>
              <a:buFont typeface="Calibri"/>
              <a:buNone/>
            </a:pPr>
            <a:r>
              <a:rPr b="1" lang="en-US" sz="1150">
                <a:solidFill>
                  <a:srgbClr val="1C2F6B"/>
                </a:solidFill>
                <a:latin typeface="Calibri"/>
                <a:ea typeface="Calibri"/>
                <a:cs typeface="Calibri"/>
                <a:sym typeface="Calibri"/>
              </a:rPr>
              <a:t>MCAT Label Mapping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"/>
          <p:cNvSpPr/>
          <p:nvPr/>
        </p:nvSpPr>
        <p:spPr>
          <a:xfrm>
            <a:off x="1005840" y="2313432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Weekly MCAT-wise Custom Label 3 map (sourced from Nikhita) cross-joined.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9"/>
          <p:cNvSpPr/>
          <p:nvPr/>
        </p:nvSpPr>
        <p:spPr>
          <a:xfrm>
            <a:off x="713232" y="2715768"/>
            <a:ext cx="36576" cy="2103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9"/>
          <p:cNvSpPr/>
          <p:nvPr/>
        </p:nvSpPr>
        <p:spPr>
          <a:xfrm>
            <a:off x="347472" y="2926080"/>
            <a:ext cx="43434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9"/>
          <p:cNvSpPr/>
          <p:nvPr/>
        </p:nvSpPr>
        <p:spPr>
          <a:xfrm>
            <a:off x="347472" y="2926080"/>
            <a:ext cx="64008" cy="749808"/>
          </a:xfrm>
          <a:prstGeom prst="rect">
            <a:avLst/>
          </a:prstGeom>
          <a:solidFill>
            <a:srgbClr val="E86A2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8" name="Google Shape;328;p9"/>
          <p:cNvCxnSpPr/>
          <p:nvPr/>
        </p:nvCxnSpPr>
        <p:spPr>
          <a:xfrm>
            <a:off x="502920" y="3090672"/>
            <a:ext cx="411480" cy="411480"/>
          </a:xfrm>
          <a:prstGeom prst="straightConnector1">
            <a:avLst/>
          </a:prstGeom>
          <a:solidFill>
            <a:srgbClr val="E86A2A"/>
          </a:solidFill>
          <a:ln>
            <a:noFill/>
          </a:ln>
        </p:spPr>
      </p:cxnSp>
      <p:sp>
        <p:nvSpPr>
          <p:cNvPr id="329" name="Google Shape;329;p9"/>
          <p:cNvSpPr/>
          <p:nvPr/>
        </p:nvSpPr>
        <p:spPr>
          <a:xfrm>
            <a:off x="502920" y="3090672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9"/>
          <p:cNvSpPr/>
          <p:nvPr/>
        </p:nvSpPr>
        <p:spPr>
          <a:xfrm>
            <a:off x="1005840" y="2971800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F6B"/>
              </a:buClr>
              <a:buSzPts val="1150"/>
              <a:buFont typeface="Calibri"/>
              <a:buNone/>
            </a:pPr>
            <a:r>
              <a:rPr b="1" lang="en-US" sz="1150">
                <a:solidFill>
                  <a:srgbClr val="1C2F6B"/>
                </a:solidFill>
                <a:latin typeface="Calibri"/>
                <a:ea typeface="Calibri"/>
                <a:cs typeface="Calibri"/>
                <a:sym typeface="Calibri"/>
              </a:rPr>
              <a:t>Mismatch Detection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9"/>
          <p:cNvSpPr/>
          <p:nvPr/>
        </p:nvSpPr>
        <p:spPr>
          <a:xfrm>
            <a:off x="1005840" y="3273552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Products with label ≠ expected label for Product Type 4 identified.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9"/>
          <p:cNvSpPr/>
          <p:nvPr/>
        </p:nvSpPr>
        <p:spPr>
          <a:xfrm>
            <a:off x="713232" y="3675888"/>
            <a:ext cx="36576" cy="2103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9"/>
          <p:cNvSpPr/>
          <p:nvPr/>
        </p:nvSpPr>
        <p:spPr>
          <a:xfrm>
            <a:off x="347472" y="3886200"/>
            <a:ext cx="43434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9"/>
          <p:cNvSpPr/>
          <p:nvPr/>
        </p:nvSpPr>
        <p:spPr>
          <a:xfrm>
            <a:off x="347472" y="3886200"/>
            <a:ext cx="64008" cy="7498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35" name="Google Shape;335;p9"/>
          <p:cNvCxnSpPr/>
          <p:nvPr/>
        </p:nvCxnSpPr>
        <p:spPr>
          <a:xfrm>
            <a:off x="502920" y="4050792"/>
            <a:ext cx="411480" cy="411480"/>
          </a:xfrm>
          <a:prstGeom prst="straightConnector1">
            <a:avLst/>
          </a:prstGeom>
          <a:solidFill>
            <a:srgbClr val="059669"/>
          </a:solidFill>
          <a:ln>
            <a:noFill/>
          </a:ln>
        </p:spPr>
      </p:cxnSp>
      <p:sp>
        <p:nvSpPr>
          <p:cNvPr id="336" name="Google Shape;336;p9"/>
          <p:cNvSpPr/>
          <p:nvPr/>
        </p:nvSpPr>
        <p:spPr>
          <a:xfrm>
            <a:off x="502920" y="4050792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9"/>
          <p:cNvSpPr/>
          <p:nvPr/>
        </p:nvSpPr>
        <p:spPr>
          <a:xfrm>
            <a:off x="1005840" y="3931920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F6B"/>
              </a:buClr>
              <a:buSzPts val="1150"/>
              <a:buFont typeface="Calibri"/>
              <a:buNone/>
            </a:pPr>
            <a:r>
              <a:rPr b="1" lang="en-US" sz="1150">
                <a:solidFill>
                  <a:srgbClr val="1C2F6B"/>
                </a:solidFill>
                <a:latin typeface="Calibri"/>
                <a:ea typeface="Calibri"/>
                <a:cs typeface="Calibri"/>
                <a:sym typeface="Calibri"/>
              </a:rPr>
              <a:t>Actionable List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9"/>
          <p:cNvSpPr/>
          <p:nvPr/>
        </p:nvSpPr>
        <p:spPr>
          <a:xfrm>
            <a:off x="1005840" y="4233672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Full list of mismatched products exported — ready for correction.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9"/>
          <p:cNvSpPr/>
          <p:nvPr/>
        </p:nvSpPr>
        <p:spPr>
          <a:xfrm>
            <a:off x="4892040" y="960120"/>
            <a:ext cx="3931920" cy="2148840"/>
          </a:xfrm>
          <a:prstGeom prst="rect">
            <a:avLst/>
          </a:prstGeom>
          <a:solidFill>
            <a:srgbClr val="F7F9FC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9"/>
          <p:cNvSpPr/>
          <p:nvPr/>
        </p:nvSpPr>
        <p:spPr>
          <a:xfrm>
            <a:off x="4892040" y="960120"/>
            <a:ext cx="3931920" cy="640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9"/>
          <p:cNvSpPr/>
          <p:nvPr/>
        </p:nvSpPr>
        <p:spPr>
          <a:xfrm>
            <a:off x="5029200" y="1069848"/>
            <a:ext cx="3611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✓  Status — Manual Phase Complete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42" name="Google Shape;342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0" y="141732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9"/>
          <p:cNvSpPr/>
          <p:nvPr/>
        </p:nvSpPr>
        <p:spPr>
          <a:xfrm>
            <a:off x="5285232" y="1399032"/>
            <a:ext cx="3383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Downloaded product report from Google Ads console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44" name="Google Shape;34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0" y="1764792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9"/>
          <p:cNvSpPr/>
          <p:nvPr/>
        </p:nvSpPr>
        <p:spPr>
          <a:xfrm>
            <a:off x="5285232" y="1746504"/>
            <a:ext cx="3383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Matched MCAT IDs with weekly Custom Label 3 snapshot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46" name="Google Shape;346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0" y="2112264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9"/>
          <p:cNvSpPr/>
          <p:nvPr/>
        </p:nvSpPr>
        <p:spPr>
          <a:xfrm>
            <a:off x="5285232" y="2093976"/>
            <a:ext cx="3383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Identified all Product Type 4 label mismatches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48" name="Google Shape;34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0" y="2459736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9"/>
          <p:cNvSpPr/>
          <p:nvPr/>
        </p:nvSpPr>
        <p:spPr>
          <a:xfrm>
            <a:off x="5285232" y="2441448"/>
            <a:ext cx="3383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Delivered actionable list to the ads team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9"/>
          <p:cNvSpPr/>
          <p:nvPr/>
        </p:nvSpPr>
        <p:spPr>
          <a:xfrm>
            <a:off x="4892040" y="3200400"/>
            <a:ext cx="3931920" cy="1508760"/>
          </a:xfrm>
          <a:prstGeom prst="rect">
            <a:avLst/>
          </a:prstGeom>
          <a:solidFill>
            <a:srgbClr val="FFF7ED"/>
          </a:solidFill>
          <a:ln>
            <a:noFill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"/>
          <p:cNvSpPr/>
          <p:nvPr/>
        </p:nvSpPr>
        <p:spPr>
          <a:xfrm>
            <a:off x="4892040" y="3200400"/>
            <a:ext cx="3931920" cy="64008"/>
          </a:xfrm>
          <a:prstGeom prst="rect">
            <a:avLst/>
          </a:prstGeom>
          <a:solidFill>
            <a:srgbClr val="E86A2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9"/>
          <p:cNvSpPr/>
          <p:nvPr/>
        </p:nvSpPr>
        <p:spPr>
          <a:xfrm>
            <a:off x="5029200" y="3310128"/>
            <a:ext cx="3611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6A2A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E86A2A"/>
                </a:solidFill>
                <a:latin typeface="Calibri"/>
                <a:ea typeface="Calibri"/>
                <a:cs typeface="Calibri"/>
                <a:sym typeface="Calibri"/>
              </a:rPr>
              <a:t>⚡  Next: Full Automation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"/>
          <p:cNvSpPr/>
          <p:nvPr/>
        </p:nvSpPr>
        <p:spPr>
          <a:xfrm>
            <a:off x="5029200" y="3639312"/>
            <a:ext cx="361188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Live MCAT-wise Custom Label 3 feed needs to be automated — replacing the weekly manual download with a direct API or DB pull to enable continuous mismatch monitoring.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10"/>
          <p:cNvSpPr/>
          <p:nvPr/>
        </p:nvSpPr>
        <p:spPr>
          <a:xfrm>
            <a:off x="502920" y="256032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2F6B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1C2F6B"/>
                </a:solidFill>
                <a:latin typeface="Calibri"/>
                <a:ea typeface="Calibri"/>
                <a:cs typeface="Calibri"/>
                <a:sym typeface="Calibri"/>
              </a:rPr>
              <a:t>Task 5: Product Label Mismatch Detection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9" name="Google Shape;359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7302" y="1111068"/>
            <a:ext cx="5731510" cy="31826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11"/>
          <p:cNvSpPr/>
          <p:nvPr/>
        </p:nvSpPr>
        <p:spPr>
          <a:xfrm>
            <a:off x="393192" y="158061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Key Learnings</a:t>
            </a:r>
            <a:endParaRPr sz="1800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1"/>
          <p:cNvSpPr/>
          <p:nvPr/>
        </p:nvSpPr>
        <p:spPr>
          <a:xfrm>
            <a:off x="0" y="4846320"/>
            <a:ext cx="9144000" cy="91440"/>
          </a:xfrm>
          <a:prstGeom prst="rect">
            <a:avLst/>
          </a:prstGeom>
          <a:solidFill>
            <a:srgbClr val="3B82C4"/>
          </a:solidFill>
          <a:ln cap="flat" cmpd="sng" w="12700">
            <a:solidFill>
              <a:srgbClr val="3B82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1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50"/>
              <a:buFont typeface="Calibri"/>
              <a:buNone/>
            </a:pPr>
            <a:r>
              <a:rPr lang="en-US" sz="7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IndiaMART | Product Management Internship | April 2026</a:t>
            </a:r>
            <a:endParaRPr sz="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7" name="Google Shape;367;p11"/>
          <p:cNvGrpSpPr/>
          <p:nvPr/>
        </p:nvGrpSpPr>
        <p:grpSpPr>
          <a:xfrm>
            <a:off x="320040" y="948364"/>
            <a:ext cx="8503920" cy="3657600"/>
            <a:chOff x="320040" y="804672"/>
            <a:chExt cx="8503920" cy="3657600"/>
          </a:xfrm>
        </p:grpSpPr>
        <p:sp>
          <p:nvSpPr>
            <p:cNvPr id="368" name="Google Shape;368;p11"/>
            <p:cNvSpPr/>
            <p:nvPr/>
          </p:nvSpPr>
          <p:spPr>
            <a:xfrm>
              <a:off x="320040" y="804672"/>
              <a:ext cx="8503920" cy="658368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" name="Google Shape;369;p11"/>
            <p:cNvSpPr/>
            <p:nvPr/>
          </p:nvSpPr>
          <p:spPr>
            <a:xfrm>
              <a:off x="320040" y="804672"/>
              <a:ext cx="73152" cy="658368"/>
            </a:xfrm>
            <a:prstGeom prst="rect">
              <a:avLst/>
            </a:prstGeom>
            <a:solidFill>
              <a:srgbClr val="3B82C4"/>
            </a:solidFill>
            <a:ln cap="flat" cmpd="sng" w="12700">
              <a:solidFill>
                <a:srgbClr val="3B82C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" name="Google Shape;370;p11"/>
            <p:cNvSpPr/>
            <p:nvPr/>
          </p:nvSpPr>
          <p:spPr>
            <a:xfrm>
              <a:off x="502920" y="804672"/>
              <a:ext cx="457200" cy="65836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E2E8F0"/>
                </a:buClr>
                <a:buSzPts val="1800"/>
                <a:buFont typeface="Calibri"/>
                <a:buNone/>
              </a:pPr>
              <a:r>
                <a:rPr b="1" lang="en-US" sz="180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01</a:t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" name="Google Shape;371;p11"/>
            <p:cNvSpPr/>
            <p:nvPr/>
          </p:nvSpPr>
          <p:spPr>
            <a:xfrm>
              <a:off x="1051560" y="896112"/>
              <a:ext cx="2286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1B3A6B"/>
                </a:buClr>
                <a:buSzPts val="1100"/>
                <a:buFont typeface="Calibri"/>
                <a:buNone/>
              </a:pPr>
              <a:r>
                <a:rPr b="1" lang="en-US" sz="1100">
                  <a:solidFill>
                    <a:srgbClr val="1B3A6B"/>
                  </a:solidFill>
                  <a:latin typeface="Calibri"/>
                  <a:ea typeface="Calibri"/>
                  <a:cs typeface="Calibri"/>
                  <a:sym typeface="Calibri"/>
                </a:rPr>
                <a:t>Data → Actionable Insights</a:t>
              </a:r>
              <a:endParaRPr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" name="Google Shape;372;p11"/>
            <p:cNvSpPr/>
            <p:nvPr/>
          </p:nvSpPr>
          <p:spPr>
            <a:xfrm>
              <a:off x="3429000" y="877824"/>
              <a:ext cx="5257800" cy="5029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1E2B3C"/>
                </a:buClr>
                <a:buSzPts val="1000"/>
                <a:buFont typeface="Calibri"/>
                <a:buNone/>
              </a:pPr>
              <a:r>
                <a:rPr lang="en-US" sz="1000">
                  <a:solidFill>
                    <a:srgbClr val="1E2B3C"/>
                  </a:solidFill>
                  <a:latin typeface="Calibri"/>
                  <a:ea typeface="Calibri"/>
                  <a:cs typeface="Calibri"/>
                  <a:sym typeface="Calibri"/>
                </a:rPr>
                <a:t>Learned to translate messy, real-world ad data into structured metrics that drive product decisions</a:t>
              </a:r>
              <a:endPara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373" name="Google Shape;373;p11"/>
            <p:cNvCxnSpPr/>
            <p:nvPr/>
          </p:nvCxnSpPr>
          <p:spPr>
            <a:xfrm>
              <a:off x="3337560" y="914400"/>
              <a:ext cx="0" cy="438912"/>
            </a:xfrm>
            <a:prstGeom prst="straightConnector1">
              <a:avLst/>
            </a:prstGeom>
            <a:noFill/>
            <a:ln cap="flat" cmpd="sng" w="127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74" name="Google Shape;374;p11"/>
            <p:cNvSpPr/>
            <p:nvPr/>
          </p:nvSpPr>
          <p:spPr>
            <a:xfrm>
              <a:off x="320040" y="1554480"/>
              <a:ext cx="8503920" cy="658368"/>
            </a:xfrm>
            <a:prstGeom prst="rect">
              <a:avLst/>
            </a:prstGeom>
            <a:solidFill>
              <a:srgbClr val="F0F4FA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" name="Google Shape;375;p11"/>
            <p:cNvSpPr/>
            <p:nvPr/>
          </p:nvSpPr>
          <p:spPr>
            <a:xfrm>
              <a:off x="320040" y="1554480"/>
              <a:ext cx="73152" cy="658368"/>
            </a:xfrm>
            <a:prstGeom prst="rect">
              <a:avLst/>
            </a:prstGeom>
            <a:solidFill>
              <a:srgbClr val="3B82C4"/>
            </a:solidFill>
            <a:ln cap="flat" cmpd="sng" w="12700">
              <a:solidFill>
                <a:srgbClr val="3B82C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" name="Google Shape;376;p11"/>
            <p:cNvSpPr/>
            <p:nvPr/>
          </p:nvSpPr>
          <p:spPr>
            <a:xfrm>
              <a:off x="502920" y="1554480"/>
              <a:ext cx="457200" cy="65836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E2E8F0"/>
                </a:buClr>
                <a:buSzPts val="1800"/>
                <a:buFont typeface="Calibri"/>
                <a:buNone/>
              </a:pPr>
              <a:r>
                <a:rPr b="1" lang="en-US" sz="180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02</a:t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7" name="Google Shape;377;p11"/>
            <p:cNvSpPr/>
            <p:nvPr/>
          </p:nvSpPr>
          <p:spPr>
            <a:xfrm>
              <a:off x="1051560" y="1645920"/>
              <a:ext cx="2286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1B3A6B"/>
                </a:buClr>
                <a:buSzPts val="1100"/>
                <a:buFont typeface="Calibri"/>
                <a:buNone/>
              </a:pPr>
              <a:r>
                <a:rPr b="1" lang="en-US" sz="1100">
                  <a:solidFill>
                    <a:srgbClr val="1B3A6B"/>
                  </a:solidFill>
                  <a:latin typeface="Calibri"/>
                  <a:ea typeface="Calibri"/>
                  <a:cs typeface="Calibri"/>
                  <a:sym typeface="Calibri"/>
                </a:rPr>
                <a:t>Automation for Scale</a:t>
              </a:r>
              <a:endParaRPr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" name="Google Shape;378;p11"/>
            <p:cNvSpPr/>
            <p:nvPr/>
          </p:nvSpPr>
          <p:spPr>
            <a:xfrm>
              <a:off x="3429000" y="1627632"/>
              <a:ext cx="5257800" cy="5029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1E2B3C"/>
                </a:buClr>
                <a:buSzPts val="1000"/>
                <a:buFont typeface="Calibri"/>
                <a:buNone/>
              </a:pPr>
              <a:r>
                <a:rPr lang="en-US" sz="1000">
                  <a:solidFill>
                    <a:srgbClr val="1E2B3C"/>
                  </a:solidFill>
                  <a:latin typeface="Calibri"/>
                  <a:ea typeface="Calibri"/>
                  <a:cs typeface="Calibri"/>
                  <a:sym typeface="Calibri"/>
                </a:rPr>
                <a:t>Manual reporting is unsustainable at scale; automation via n8n + Apps Script enables consistent, timely insights</a:t>
              </a:r>
              <a:endPara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379" name="Google Shape;379;p11"/>
            <p:cNvCxnSpPr/>
            <p:nvPr/>
          </p:nvCxnSpPr>
          <p:spPr>
            <a:xfrm>
              <a:off x="3337560" y="1664208"/>
              <a:ext cx="0" cy="438912"/>
            </a:xfrm>
            <a:prstGeom prst="straightConnector1">
              <a:avLst/>
            </a:prstGeom>
            <a:noFill/>
            <a:ln cap="flat" cmpd="sng" w="127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80" name="Google Shape;380;p11"/>
            <p:cNvSpPr/>
            <p:nvPr/>
          </p:nvSpPr>
          <p:spPr>
            <a:xfrm>
              <a:off x="320040" y="2304288"/>
              <a:ext cx="8503920" cy="658368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" name="Google Shape;381;p11"/>
            <p:cNvSpPr/>
            <p:nvPr/>
          </p:nvSpPr>
          <p:spPr>
            <a:xfrm>
              <a:off x="320040" y="2304288"/>
              <a:ext cx="73152" cy="658368"/>
            </a:xfrm>
            <a:prstGeom prst="rect">
              <a:avLst/>
            </a:prstGeom>
            <a:solidFill>
              <a:srgbClr val="3B82C4"/>
            </a:solidFill>
            <a:ln cap="flat" cmpd="sng" w="12700">
              <a:solidFill>
                <a:srgbClr val="3B82C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" name="Google Shape;382;p11"/>
            <p:cNvSpPr/>
            <p:nvPr/>
          </p:nvSpPr>
          <p:spPr>
            <a:xfrm>
              <a:off x="502920" y="2304288"/>
              <a:ext cx="457200" cy="65836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E2E8F0"/>
                </a:buClr>
                <a:buSzPts val="1800"/>
                <a:buFont typeface="Calibri"/>
                <a:buNone/>
              </a:pPr>
              <a:r>
                <a:rPr b="1" lang="en-US" sz="180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03</a:t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" name="Google Shape;383;p11"/>
            <p:cNvSpPr/>
            <p:nvPr/>
          </p:nvSpPr>
          <p:spPr>
            <a:xfrm>
              <a:off x="1051560" y="2395728"/>
              <a:ext cx="2286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1B3A6B"/>
                </a:buClr>
                <a:buSzPts val="1100"/>
                <a:buFont typeface="Calibri"/>
                <a:buNone/>
              </a:pPr>
              <a:r>
                <a:rPr b="1" lang="en-US" sz="1100">
                  <a:solidFill>
                    <a:srgbClr val="1B3A6B"/>
                  </a:solidFill>
                  <a:latin typeface="Calibri"/>
                  <a:ea typeface="Calibri"/>
                  <a:cs typeface="Calibri"/>
                  <a:sym typeface="Calibri"/>
                </a:rPr>
                <a:t>SQL &amp; Ads Ecosystem</a:t>
              </a:r>
              <a:endParaRPr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11"/>
            <p:cNvSpPr/>
            <p:nvPr/>
          </p:nvSpPr>
          <p:spPr>
            <a:xfrm>
              <a:off x="3429000" y="2377440"/>
              <a:ext cx="5257800" cy="5029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1E2B3C"/>
                </a:buClr>
                <a:buSzPts val="1000"/>
                <a:buFont typeface="Calibri"/>
                <a:buNone/>
              </a:pPr>
              <a:r>
                <a:rPr lang="en-US" sz="1000">
                  <a:solidFill>
                    <a:srgbClr val="1E2B3C"/>
                  </a:solidFill>
                  <a:latin typeface="Calibri"/>
                  <a:ea typeface="Calibri"/>
                  <a:cs typeface="Calibri"/>
                  <a:sym typeface="Calibri"/>
                </a:rPr>
                <a:t>Gained some understanding of Google Ads(Types of Ads, KPIs, rules) and SQL querying across complex data</a:t>
              </a:r>
              <a:endPara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385" name="Google Shape;385;p11"/>
            <p:cNvCxnSpPr/>
            <p:nvPr/>
          </p:nvCxnSpPr>
          <p:spPr>
            <a:xfrm>
              <a:off x="3337560" y="2414016"/>
              <a:ext cx="0" cy="438912"/>
            </a:xfrm>
            <a:prstGeom prst="straightConnector1">
              <a:avLst/>
            </a:prstGeom>
            <a:noFill/>
            <a:ln cap="flat" cmpd="sng" w="127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86" name="Google Shape;386;p11"/>
            <p:cNvSpPr/>
            <p:nvPr/>
          </p:nvSpPr>
          <p:spPr>
            <a:xfrm>
              <a:off x="320040" y="3054096"/>
              <a:ext cx="8503920" cy="658368"/>
            </a:xfrm>
            <a:prstGeom prst="rect">
              <a:avLst/>
            </a:prstGeom>
            <a:solidFill>
              <a:srgbClr val="F0F4FA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11"/>
            <p:cNvSpPr/>
            <p:nvPr/>
          </p:nvSpPr>
          <p:spPr>
            <a:xfrm>
              <a:off x="320040" y="3054096"/>
              <a:ext cx="73152" cy="658368"/>
            </a:xfrm>
            <a:prstGeom prst="rect">
              <a:avLst/>
            </a:prstGeom>
            <a:solidFill>
              <a:srgbClr val="3B82C4"/>
            </a:solidFill>
            <a:ln cap="flat" cmpd="sng" w="12700">
              <a:solidFill>
                <a:srgbClr val="3B82C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11"/>
            <p:cNvSpPr/>
            <p:nvPr/>
          </p:nvSpPr>
          <p:spPr>
            <a:xfrm>
              <a:off x="502920" y="3054096"/>
              <a:ext cx="457200" cy="65836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E2E8F0"/>
                </a:buClr>
                <a:buSzPts val="1800"/>
                <a:buFont typeface="Calibri"/>
                <a:buNone/>
              </a:pPr>
              <a:r>
                <a:rPr b="1" lang="en-US" sz="180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04</a:t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" name="Google Shape;389;p11"/>
            <p:cNvSpPr/>
            <p:nvPr/>
          </p:nvSpPr>
          <p:spPr>
            <a:xfrm>
              <a:off x="1051560" y="3145536"/>
              <a:ext cx="2286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1B3A6B"/>
                </a:buClr>
                <a:buSzPts val="1100"/>
                <a:buFont typeface="Calibri"/>
                <a:buNone/>
              </a:pPr>
              <a:r>
                <a:rPr b="1" lang="en-US" sz="1100">
                  <a:solidFill>
                    <a:srgbClr val="1B3A6B"/>
                  </a:solidFill>
                  <a:latin typeface="Calibri"/>
                  <a:ea typeface="Calibri"/>
                  <a:cs typeface="Calibri"/>
                  <a:sym typeface="Calibri"/>
                </a:rPr>
                <a:t>Product Thinking</a:t>
              </a:r>
              <a:endParaRPr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" name="Google Shape;390;p11"/>
            <p:cNvSpPr/>
            <p:nvPr/>
          </p:nvSpPr>
          <p:spPr>
            <a:xfrm>
              <a:off x="3429000" y="3127248"/>
              <a:ext cx="5257800" cy="5029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1E2B3C"/>
                </a:buClr>
                <a:buSzPts val="1000"/>
                <a:buFont typeface="Calibri"/>
                <a:buNone/>
              </a:pPr>
              <a:r>
                <a:rPr lang="en-US" sz="1000">
                  <a:solidFill>
                    <a:srgbClr val="1E2B3C"/>
                  </a:solidFill>
                  <a:latin typeface="Calibri"/>
                  <a:ea typeface="Calibri"/>
                  <a:cs typeface="Calibri"/>
                  <a:sym typeface="Calibri"/>
                </a:rPr>
                <a:t>Connecting individual KPIs (Cost/Txn, BL Approved) to build interactive dashboard</a:t>
              </a:r>
              <a:endPara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391" name="Google Shape;391;p11"/>
            <p:cNvCxnSpPr/>
            <p:nvPr/>
          </p:nvCxnSpPr>
          <p:spPr>
            <a:xfrm>
              <a:off x="3337560" y="3163824"/>
              <a:ext cx="0" cy="438912"/>
            </a:xfrm>
            <a:prstGeom prst="straightConnector1">
              <a:avLst/>
            </a:prstGeom>
            <a:noFill/>
            <a:ln cap="flat" cmpd="sng" w="127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92" name="Google Shape;392;p11"/>
            <p:cNvSpPr/>
            <p:nvPr/>
          </p:nvSpPr>
          <p:spPr>
            <a:xfrm>
              <a:off x="320040" y="3803904"/>
              <a:ext cx="8503920" cy="658368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" name="Google Shape;393;p11"/>
            <p:cNvSpPr/>
            <p:nvPr/>
          </p:nvSpPr>
          <p:spPr>
            <a:xfrm>
              <a:off x="320040" y="3803904"/>
              <a:ext cx="73152" cy="658368"/>
            </a:xfrm>
            <a:prstGeom prst="rect">
              <a:avLst/>
            </a:prstGeom>
            <a:solidFill>
              <a:srgbClr val="3B82C4"/>
            </a:solidFill>
            <a:ln cap="flat" cmpd="sng" w="12700">
              <a:solidFill>
                <a:srgbClr val="3B82C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" name="Google Shape;394;p11"/>
            <p:cNvSpPr/>
            <p:nvPr/>
          </p:nvSpPr>
          <p:spPr>
            <a:xfrm>
              <a:off x="502920" y="3803904"/>
              <a:ext cx="457200" cy="65836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E2E8F0"/>
                </a:buClr>
                <a:buSzPts val="1800"/>
                <a:buFont typeface="Calibri"/>
                <a:buNone/>
              </a:pPr>
              <a:r>
                <a:rPr b="1" lang="en-US" sz="1800">
                  <a:solidFill>
                    <a:srgbClr val="E2E8F0"/>
                  </a:solidFill>
                  <a:latin typeface="Calibri"/>
                  <a:ea typeface="Calibri"/>
                  <a:cs typeface="Calibri"/>
                  <a:sym typeface="Calibri"/>
                </a:rPr>
                <a:t>05</a:t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" name="Google Shape;395;p11"/>
            <p:cNvSpPr/>
            <p:nvPr/>
          </p:nvSpPr>
          <p:spPr>
            <a:xfrm>
              <a:off x="1051560" y="3895344"/>
              <a:ext cx="2286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1B3A6B"/>
                </a:buClr>
                <a:buSzPts val="1100"/>
                <a:buFont typeface="Calibri"/>
                <a:buNone/>
              </a:pPr>
              <a:r>
                <a:rPr b="1" lang="en-US" sz="1100">
                  <a:solidFill>
                    <a:srgbClr val="1B3A6B"/>
                  </a:solidFill>
                  <a:latin typeface="Calibri"/>
                  <a:ea typeface="Calibri"/>
                  <a:cs typeface="Calibri"/>
                  <a:sym typeface="Calibri"/>
                </a:rPr>
                <a:t>Handling Imperfect Data</a:t>
              </a:r>
              <a:endParaRPr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" name="Google Shape;396;p11"/>
            <p:cNvSpPr/>
            <p:nvPr/>
          </p:nvSpPr>
          <p:spPr>
            <a:xfrm>
              <a:off x="3429000" y="3877056"/>
              <a:ext cx="5257800" cy="5029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1E2B3C"/>
                </a:buClr>
                <a:buSzPts val="1000"/>
                <a:buFont typeface="Calibri"/>
                <a:buNone/>
              </a:pPr>
              <a:r>
                <a:rPr lang="en-US" sz="1000">
                  <a:solidFill>
                    <a:srgbClr val="1E2B3C"/>
                  </a:solidFill>
                  <a:latin typeface="Calibri"/>
                  <a:ea typeface="Calibri"/>
                  <a:cs typeface="Calibri"/>
                  <a:sym typeface="Calibri"/>
                </a:rPr>
                <a:t>Real datasets have gaps, mismatches, and missing fields — robust conditional logic and validation is essential</a:t>
              </a:r>
              <a:endPara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397" name="Google Shape;397;p11"/>
            <p:cNvCxnSpPr/>
            <p:nvPr/>
          </p:nvCxnSpPr>
          <p:spPr>
            <a:xfrm>
              <a:off x="3337560" y="3913632"/>
              <a:ext cx="0" cy="438912"/>
            </a:xfrm>
            <a:prstGeom prst="straightConnector1">
              <a:avLst/>
            </a:prstGeom>
            <a:noFill/>
            <a:ln cap="flat" cmpd="sng" w="127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12"/>
          <p:cNvSpPr/>
          <p:nvPr/>
        </p:nvSpPr>
        <p:spPr>
          <a:xfrm>
            <a:off x="457200" y="150223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Next Steps</a:t>
            </a:r>
            <a:endParaRPr sz="1800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2"/>
          <p:cNvSpPr/>
          <p:nvPr/>
        </p:nvSpPr>
        <p:spPr>
          <a:xfrm>
            <a:off x="0" y="4846320"/>
            <a:ext cx="9144000" cy="91440"/>
          </a:xfrm>
          <a:prstGeom prst="rect">
            <a:avLst/>
          </a:prstGeom>
          <a:solidFill>
            <a:srgbClr val="3B82C4"/>
          </a:solidFill>
          <a:ln cap="flat" cmpd="sng" w="12700">
            <a:solidFill>
              <a:srgbClr val="3B82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2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50"/>
              <a:buFont typeface="Calibri"/>
              <a:buNone/>
            </a:pPr>
            <a:r>
              <a:rPr lang="en-US" sz="7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IndiaMART | Product Management Internship | April 2026</a:t>
            </a:r>
            <a:endParaRPr sz="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5" name="Google Shape;405;p12"/>
          <p:cNvCxnSpPr/>
          <p:nvPr/>
        </p:nvCxnSpPr>
        <p:spPr>
          <a:xfrm>
            <a:off x="777240" y="1024128"/>
            <a:ext cx="0" cy="3566160"/>
          </a:xfrm>
          <a:prstGeom prst="straightConnector1">
            <a:avLst/>
          </a:prstGeom>
          <a:noFill/>
          <a:ln cap="flat" cmpd="sng" w="254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6" name="Google Shape;406;p12"/>
          <p:cNvSpPr/>
          <p:nvPr/>
        </p:nvSpPr>
        <p:spPr>
          <a:xfrm>
            <a:off x="502920" y="987552"/>
            <a:ext cx="548640" cy="548640"/>
          </a:xfrm>
          <a:prstGeom prst="ellipse">
            <a:avLst/>
          </a:prstGeom>
          <a:solidFill>
            <a:srgbClr val="2563A8"/>
          </a:solidFill>
          <a:ln cap="flat" cmpd="sng" w="12700">
            <a:solidFill>
              <a:srgbClr val="2563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2"/>
          <p:cNvSpPr/>
          <p:nvPr/>
        </p:nvSpPr>
        <p:spPr>
          <a:xfrm>
            <a:off x="502920" y="98755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2"/>
          <p:cNvSpPr/>
          <p:nvPr/>
        </p:nvSpPr>
        <p:spPr>
          <a:xfrm>
            <a:off x="1234440" y="896112"/>
            <a:ext cx="7498080" cy="6583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2"/>
          <p:cNvSpPr/>
          <p:nvPr/>
        </p:nvSpPr>
        <p:spPr>
          <a:xfrm>
            <a:off x="1371600" y="969264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Fix Daily KPI Tracker Automation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2"/>
          <p:cNvSpPr/>
          <p:nvPr/>
        </p:nvSpPr>
        <p:spPr>
          <a:xfrm>
            <a:off x="4251960" y="969264"/>
            <a:ext cx="4343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296B0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8296B0"/>
                </a:solidFill>
                <a:latin typeface="Calibri"/>
                <a:ea typeface="Calibri"/>
                <a:cs typeface="Calibri"/>
                <a:sym typeface="Calibri"/>
              </a:rPr>
              <a:t>Make the daily tracker for all other campaigns as well</a:t>
            </a:r>
            <a:endParaRPr/>
          </a:p>
        </p:txBody>
      </p:sp>
      <p:cxnSp>
        <p:nvCxnSpPr>
          <p:cNvPr id="411" name="Google Shape;411;p12"/>
          <p:cNvCxnSpPr/>
          <p:nvPr/>
        </p:nvCxnSpPr>
        <p:spPr>
          <a:xfrm>
            <a:off x="4160520" y="987552"/>
            <a:ext cx="0" cy="475488"/>
          </a:xfrm>
          <a:prstGeom prst="straightConnector1">
            <a:avLst/>
          </a:prstGeom>
          <a:noFill/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2" name="Google Shape;412;p12"/>
          <p:cNvSpPr/>
          <p:nvPr/>
        </p:nvSpPr>
        <p:spPr>
          <a:xfrm>
            <a:off x="502920" y="1737360"/>
            <a:ext cx="548640" cy="548640"/>
          </a:xfrm>
          <a:prstGeom prst="ellipse">
            <a:avLst/>
          </a:prstGeom>
          <a:solidFill>
            <a:srgbClr val="2563A8"/>
          </a:solidFill>
          <a:ln cap="flat" cmpd="sng" w="12700">
            <a:solidFill>
              <a:srgbClr val="2563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2"/>
          <p:cNvSpPr/>
          <p:nvPr/>
        </p:nvSpPr>
        <p:spPr>
          <a:xfrm>
            <a:off x="502920" y="173736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2"/>
          <p:cNvSpPr/>
          <p:nvPr/>
        </p:nvSpPr>
        <p:spPr>
          <a:xfrm>
            <a:off x="1234440" y="1645920"/>
            <a:ext cx="7498080" cy="658368"/>
          </a:xfrm>
          <a:prstGeom prst="rect">
            <a:avLst/>
          </a:prstGeom>
          <a:solidFill>
            <a:srgbClr val="F0F4FA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2"/>
          <p:cNvSpPr/>
          <p:nvPr/>
        </p:nvSpPr>
        <p:spPr>
          <a:xfrm>
            <a:off x="1371600" y="1719072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Resolve DB Inconsistencies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2"/>
          <p:cNvSpPr/>
          <p:nvPr/>
        </p:nvSpPr>
        <p:spPr>
          <a:xfrm>
            <a:off x="4251960" y="1719072"/>
            <a:ext cx="4343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296B0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8296B0"/>
                </a:solidFill>
                <a:latin typeface="Calibri"/>
                <a:ea typeface="Calibri"/>
                <a:cs typeface="Calibri"/>
                <a:sym typeface="Calibri"/>
              </a:rPr>
              <a:t>Investigate and reconcile the 13K DB vs 19K MCAT Mesh data mismatch across sources</a:t>
            </a:r>
            <a:endParaRPr/>
          </a:p>
        </p:txBody>
      </p:sp>
      <p:cxnSp>
        <p:nvCxnSpPr>
          <p:cNvPr id="417" name="Google Shape;417;p12"/>
          <p:cNvCxnSpPr/>
          <p:nvPr/>
        </p:nvCxnSpPr>
        <p:spPr>
          <a:xfrm>
            <a:off x="4160520" y="1737360"/>
            <a:ext cx="0" cy="475488"/>
          </a:xfrm>
          <a:prstGeom prst="straightConnector1">
            <a:avLst/>
          </a:prstGeom>
          <a:noFill/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8" name="Google Shape;418;p12"/>
          <p:cNvSpPr/>
          <p:nvPr/>
        </p:nvSpPr>
        <p:spPr>
          <a:xfrm>
            <a:off x="502920" y="2487168"/>
            <a:ext cx="548640" cy="548640"/>
          </a:xfrm>
          <a:prstGeom prst="ellipse">
            <a:avLst/>
          </a:prstGeom>
          <a:solidFill>
            <a:srgbClr val="3B82C4"/>
          </a:solidFill>
          <a:ln cap="flat" cmpd="sng" w="12700">
            <a:solidFill>
              <a:srgbClr val="3B82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2"/>
          <p:cNvSpPr/>
          <p:nvPr/>
        </p:nvSpPr>
        <p:spPr>
          <a:xfrm>
            <a:off x="502920" y="2487168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2"/>
          <p:cNvSpPr/>
          <p:nvPr/>
        </p:nvSpPr>
        <p:spPr>
          <a:xfrm>
            <a:off x="1234440" y="2395728"/>
            <a:ext cx="7498080" cy="6583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2"/>
          <p:cNvSpPr/>
          <p:nvPr/>
        </p:nvSpPr>
        <p:spPr>
          <a:xfrm>
            <a:off x="1371600" y="2468880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Build Live KPI Dashboard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2"/>
          <p:cNvSpPr/>
          <p:nvPr/>
        </p:nvSpPr>
        <p:spPr>
          <a:xfrm>
            <a:off x="4251960" y="2468880"/>
            <a:ext cx="4343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r>
              <a:t>[Completed] Interactive dashboard built on Next.js, connected to live Redshift DB with Daily/Weekly/Monthly filters.</a:t>
            </a:r>
          </a:p>
        </p:txBody>
      </p:sp>
      <p:cxnSp>
        <p:nvCxnSpPr>
          <p:cNvPr id="423" name="Google Shape;423;p12"/>
          <p:cNvCxnSpPr/>
          <p:nvPr/>
        </p:nvCxnSpPr>
        <p:spPr>
          <a:xfrm>
            <a:off x="4160520" y="2487168"/>
            <a:ext cx="0" cy="475488"/>
          </a:xfrm>
          <a:prstGeom prst="straightConnector1">
            <a:avLst/>
          </a:prstGeom>
          <a:noFill/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4" name="Google Shape;424;p12"/>
          <p:cNvSpPr/>
          <p:nvPr/>
        </p:nvSpPr>
        <p:spPr>
          <a:xfrm>
            <a:off x="502920" y="3236976"/>
            <a:ext cx="548640" cy="548640"/>
          </a:xfrm>
          <a:prstGeom prst="ellipse">
            <a:avLst/>
          </a:prstGeom>
          <a:solidFill>
            <a:srgbClr val="3B82C4"/>
          </a:solidFill>
          <a:ln cap="flat" cmpd="sng" w="12700">
            <a:solidFill>
              <a:srgbClr val="3B82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2"/>
          <p:cNvSpPr/>
          <p:nvPr/>
        </p:nvSpPr>
        <p:spPr>
          <a:xfrm>
            <a:off x="502920" y="3236976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2"/>
          <p:cNvSpPr/>
          <p:nvPr/>
        </p:nvSpPr>
        <p:spPr>
          <a:xfrm>
            <a:off x="1234440" y="3145536"/>
            <a:ext cx="7498080" cy="658368"/>
          </a:xfrm>
          <a:prstGeom prst="rect">
            <a:avLst/>
          </a:prstGeom>
          <a:solidFill>
            <a:srgbClr val="F0F4FA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2"/>
          <p:cNvSpPr/>
          <p:nvPr/>
        </p:nvSpPr>
        <p:spPr>
          <a:xfrm>
            <a:off x="1371600" y="3218688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Automate Custom Label Mismatch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2"/>
          <p:cNvSpPr/>
          <p:nvPr/>
        </p:nvSpPr>
        <p:spPr>
          <a:xfrm>
            <a:off x="4251960" y="3218688"/>
            <a:ext cx="4343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8296B0"/>
                </a:solidFill>
                <a:latin typeface="Calibri"/>
                <a:ea typeface="Calibri"/>
                <a:cs typeface="Calibri"/>
                <a:sym typeface="Calibri"/>
              </a:rPr>
              <a:t>Live MCAT-wise Custom Label 3 feed needs to be automated — replacing the weekly manual download with a direct API or DB pull to enable continuous mismatch monitoring.</a:t>
            </a:r>
            <a:endParaRPr sz="1000">
              <a:solidFill>
                <a:srgbClr val="8296B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29" name="Google Shape;429;p12"/>
          <p:cNvCxnSpPr/>
          <p:nvPr/>
        </p:nvCxnSpPr>
        <p:spPr>
          <a:xfrm>
            <a:off x="4160520" y="3236976"/>
            <a:ext cx="0" cy="475488"/>
          </a:xfrm>
          <a:prstGeom prst="straightConnector1">
            <a:avLst/>
          </a:prstGeom>
          <a:noFill/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30" name="Google Shape;430;p12"/>
          <p:cNvSpPr/>
          <p:nvPr/>
        </p:nvSpPr>
        <p:spPr>
          <a:xfrm>
            <a:off x="502920" y="3986784"/>
            <a:ext cx="548640" cy="548640"/>
          </a:xfrm>
          <a:prstGeom prst="ellipse">
            <a:avLst/>
          </a:prstGeom>
          <a:solidFill>
            <a:srgbClr val="3B82C4"/>
          </a:solidFill>
          <a:ln cap="flat" cmpd="sng" w="12700">
            <a:solidFill>
              <a:srgbClr val="3B82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2"/>
          <p:cNvSpPr/>
          <p:nvPr/>
        </p:nvSpPr>
        <p:spPr>
          <a:xfrm>
            <a:off x="502920" y="3986784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2"/>
          <p:cNvSpPr/>
          <p:nvPr/>
        </p:nvSpPr>
        <p:spPr>
          <a:xfrm>
            <a:off x="1234440" y="3895344"/>
            <a:ext cx="7498080" cy="6583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2"/>
          <p:cNvSpPr/>
          <p:nvPr/>
        </p:nvSpPr>
        <p:spPr>
          <a:xfrm>
            <a:off x="1371600" y="3968496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6B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1B3A6B"/>
                </a:solidFill>
                <a:latin typeface="Calibri"/>
                <a:ea typeface="Calibri"/>
                <a:cs typeface="Calibri"/>
                <a:sym typeface="Calibri"/>
              </a:rPr>
              <a:t>Recommendation Engine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2"/>
          <p:cNvSpPr/>
          <p:nvPr/>
        </p:nvSpPr>
        <p:spPr>
          <a:xfrm>
            <a:off x="4251960" y="3968496"/>
            <a:ext cx="4343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296B0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8296B0"/>
                </a:solidFill>
                <a:latin typeface="Calibri"/>
                <a:ea typeface="Calibri"/>
                <a:cs typeface="Calibri"/>
                <a:sym typeface="Calibri"/>
              </a:rPr>
              <a:t>Add automated bid/budget recommendations directly within daily email reports</a:t>
            </a:r>
            <a:endParaRPr/>
          </a:p>
        </p:txBody>
      </p:sp>
      <p:cxnSp>
        <p:nvCxnSpPr>
          <p:cNvPr id="435" name="Google Shape;435;p12"/>
          <p:cNvCxnSpPr/>
          <p:nvPr/>
        </p:nvCxnSpPr>
        <p:spPr>
          <a:xfrm>
            <a:off x="4160520" y="3986784"/>
            <a:ext cx="0" cy="475488"/>
          </a:xfrm>
          <a:prstGeom prst="straightConnector1">
            <a:avLst/>
          </a:prstGeom>
          <a:noFill/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13"/>
          <p:cNvSpPr txBox="1"/>
          <p:nvPr>
            <p:ph idx="1" type="body"/>
          </p:nvPr>
        </p:nvSpPr>
        <p:spPr>
          <a:xfrm>
            <a:off x="1564538" y="1829306"/>
            <a:ext cx="6015000" cy="8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</a:pPr>
            <a:r>
              <a:rPr lang="en-US"/>
              <a:t>Thank You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2026-04-29T08:43:57Z</dcterms:created>
  <dc:creator>Kratika Agarwal</dc:creator>
</cp:coreProperties>
</file>