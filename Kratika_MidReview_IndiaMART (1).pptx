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72" r:id="rId27"/>
    <p:sldId id="273" r:id="rId28"/>
    <p:sldId id="274" r:id="rId29"/>
    <p:sldId id="269" r:id="rId19"/>
    <p:sldId id="270" r:id="rId20"/>
    <p:sldId id="271" r:id="rId21"/>
  </p:sldIdLst>
  <p:sldSz cy="5143500" cx="9144000"/>
  <p:notesSz cx="5143500" cy="9144000"/>
  <p:embeddedFontLs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h13SBSblLTcyZqlEQXUUWmVl/O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A5383E2-82FB-4F88-97F2-8A5A168AEFB1}">
  <a:tblStyle styleId="{BA5383E2-82FB-4F88-97F2-8A5A168AEFB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9.xml"/><Relationship Id="rId22" Type="http://schemas.openxmlformats.org/officeDocument/2006/relationships/font" Target="fonts/OpenSans-regular.fntdata"/><Relationship Id="rId23" Type="http://schemas.openxmlformats.org/officeDocument/2006/relationships/font" Target="fonts/OpenSans-bold.fntdata"/><Relationship Id="rId24" Type="http://schemas.openxmlformats.org/officeDocument/2006/relationships/font" Target="fonts/OpenSans-italic.fntdata"/><Relationship Id="rId25" Type="http://schemas.openxmlformats.org/officeDocument/2006/relationships/font" Target="fonts/OpenSans-boldItalic.fntdata"/><Relationship Id="rId26" Type="http://customschemas.google.com/relationships/presentationmetadata" Target="metadata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000000"/>
                </a:solidFill>
                <a:latin typeface="Arial"/>
              </a:rPr>
              <a:t>Cost/Transaction Trend (₹)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Cost/Txn</c:v>
                </c:pt>
              </c:strCache>
            </c:strRef>
          </c:tx>
          <c:spPr>
            <a:solidFill>
              <a:srgbClr val="1055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C2F6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19</c:v>
                </c:pt>
                <c:pt idx="2">
                  <c:v>18.399999999999999</c:v>
                </c:pt>
                <c:pt idx="3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97-4187-8A61-640AA4CBA37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EEF3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900" b="0" i="0" u="none" strike="noStrike">
                <a:solidFill>
                  <a:srgbClr val="000000"/>
                </a:solidFill>
                <a:latin typeface="Arial"/>
              </a:rPr>
              <a:t>Flag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MCATs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6D0-43DE-A26B-BA6523BBC709}"/>
              </c:ext>
            </c:extLst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6D0-43DE-A26B-BA6523BBC709}"/>
              </c:ext>
            </c:extLst>
          </c:dPt>
          <c:dPt>
            <c:idx val="2"/>
            <c:bubble3D val="0"/>
            <c:spPr>
              <a:solidFill>
                <a:srgbClr val="CC1A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6D0-43DE-A26B-BA6523BBC70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6D0-43DE-A26B-BA6523BBC70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6D0-43DE-A26B-BA6523BBC70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6D0-43DE-A26B-BA6523BBC70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</c:v>
                </c:pt>
                <c:pt idx="1">
                  <c:v>40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6D0-43DE-A26B-BA6523BBC7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6a231c308_3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g3e6a231c308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6a231c308_3_57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6a231c308_3_57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6a231c308_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g3e6a231c30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8" name="Google Shape;3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6" name="Google Shape;3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2" name="Google Shape;36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0" name="Google Shape;40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5"/>
          <p:cNvSpPr txBox="1"/>
          <p:nvPr>
            <p:ph type="ctrTitle"/>
          </p:nvPr>
        </p:nvSpPr>
        <p:spPr>
          <a:xfrm>
            <a:off x="651294" y="1416889"/>
            <a:ext cx="47682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Open Sans"/>
              <a:buNone/>
              <a:defRPr b="1" i="0" sz="3300" u="none" cap="none" strike="noStrike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9pPr>
          </a:lstStyle>
          <a:p/>
        </p:txBody>
      </p:sp>
      <p:cxnSp>
        <p:nvCxnSpPr>
          <p:cNvPr id="8" name="Google Shape;8;p15"/>
          <p:cNvCxnSpPr/>
          <p:nvPr/>
        </p:nvCxnSpPr>
        <p:spPr>
          <a:xfrm rot="10800000">
            <a:off x="651271" y="2018582"/>
            <a:ext cx="4091100" cy="0"/>
          </a:xfrm>
          <a:prstGeom prst="straightConnector1">
            <a:avLst/>
          </a:prstGeom>
          <a:noFill/>
          <a:ln cap="flat" cmpd="sng" w="14300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" name="Google Shape;9;p15"/>
          <p:cNvSpPr txBox="1"/>
          <p:nvPr>
            <p:ph idx="1" type="body"/>
          </p:nvPr>
        </p:nvSpPr>
        <p:spPr>
          <a:xfrm>
            <a:off x="651294" y="2116214"/>
            <a:ext cx="47682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2100"/>
              <a:buFont typeface="Arial"/>
              <a:buNone/>
              <a:defRPr b="0" i="0" sz="32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ta-text-slide">
  <p:cSld name="Data-text-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6"/>
          <p:cNvSpPr txBox="1"/>
          <p:nvPr>
            <p:ph type="title"/>
          </p:nvPr>
        </p:nvSpPr>
        <p:spPr>
          <a:xfrm>
            <a:off x="305159" y="228555"/>
            <a:ext cx="66627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300"/>
              <a:buFont typeface="Open Sans"/>
              <a:buNone/>
              <a:defRPr b="1" i="0" sz="2300" u="none" cap="none" strike="noStrike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9pPr>
          </a:lstStyle>
          <a:p/>
        </p:txBody>
      </p:sp>
      <p:sp>
        <p:nvSpPr>
          <p:cNvPr id="12" name="Google Shape;12;p16"/>
          <p:cNvSpPr/>
          <p:nvPr/>
        </p:nvSpPr>
        <p:spPr>
          <a:xfrm>
            <a:off x="427007" y="763437"/>
            <a:ext cx="1209900" cy="58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6"/>
          <p:cNvSpPr/>
          <p:nvPr>
            <p:ph idx="2" type="chart"/>
          </p:nvPr>
        </p:nvSpPr>
        <p:spPr>
          <a:xfrm>
            <a:off x="4354476" y="1242249"/>
            <a:ext cx="3875400" cy="29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" type="body"/>
          </p:nvPr>
        </p:nvSpPr>
        <p:spPr>
          <a:xfrm>
            <a:off x="305159" y="1242249"/>
            <a:ext cx="2749200" cy="9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221F1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21F1F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21F1F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21F1F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21F1F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you-slide">
  <p:cSld name="thankyou-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/>
          <p:nvPr/>
        </p:nvSpPr>
        <p:spPr>
          <a:xfrm>
            <a:off x="387927" y="1486838"/>
            <a:ext cx="8368200" cy="1441200"/>
          </a:xfrm>
          <a:prstGeom prst="rect">
            <a:avLst/>
          </a:prstGeom>
          <a:solidFill>
            <a:srgbClr val="372E83"/>
          </a:solidFill>
          <a:ln cap="flat" cmpd="sng" w="9525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7"/>
          <p:cNvSpPr txBox="1"/>
          <p:nvPr>
            <p:ph idx="1" type="body"/>
          </p:nvPr>
        </p:nvSpPr>
        <p:spPr>
          <a:xfrm>
            <a:off x="1461655" y="1829311"/>
            <a:ext cx="5249400" cy="8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Arial"/>
              <a:buNone/>
              <a:defRPr b="1" i="0" sz="49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mail.google.com/mail/u/4/#inbox/FMfcgzQgLXvQrRBtSzDJfDdTJvwNSVzp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2.png"/><Relationship Id="rId7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image" Target="../media/image15.png"/><Relationship Id="rId6" Type="http://schemas.openxmlformats.org/officeDocument/2006/relationships/image" Target="../media/image6.png"/><Relationship Id="rId7" Type="http://schemas.openxmlformats.org/officeDocument/2006/relationships/image" Target="../media/image8.png"/><Relationship Id="rId8" Type="http://schemas.openxmlformats.org/officeDocument/2006/relationships/hyperlink" Target="about:blank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hyperlink" Target="https://docs.google.com/spreadsheets/d/1eDJmTpiV1m9KPjS5JvyvKoUMU4IzDxeoBiQ0NjE990c/edit?gid=1046253378#gid=1046253378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"/>
          <p:cNvSpPr/>
          <p:nvPr/>
        </p:nvSpPr>
        <p:spPr>
          <a:xfrm>
            <a:off x="581296" y="326571"/>
            <a:ext cx="4062549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Product Management</a:t>
            </a:r>
            <a:endParaRPr b="0" i="0" sz="3200" u="none" cap="none" strike="noStrike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Internship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Mid-Review</a:t>
            </a:r>
            <a:endParaRPr b="0" i="0" sz="3200" u="none" cap="none" strike="noStrike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09600" y="3992009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Kratika Agarwal</a:t>
            </a:r>
            <a:endParaRPr b="0" i="0" sz="1500" u="none" cap="none" strike="noStrike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09600" y="437083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Product Management Intern, </a:t>
            </a:r>
            <a:br>
              <a:rPr b="0" i="0" lang="en-US" sz="10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April 2026 – Present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943600" y="437083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Google Ads · Analytics · Automation · KPI Tracking</a:t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609600" y="2632165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Project-: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IM Ads Automated Performance Attribution &amp; Hierarchical Analytics Framework</a:t>
            </a:r>
            <a:endParaRPr sz="150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399070" y="6380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Role &amp; Business Understanding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0" y="4846320"/>
            <a:ext cx="9144000" cy="91440"/>
          </a:xfrm>
          <a:prstGeom prst="rect">
            <a:avLst/>
          </a:prstGeom>
          <a:solidFill>
            <a:srgbClr val="3B82C4"/>
          </a:solidFill>
          <a:ln cap="flat" cmpd="sng" w="12700">
            <a:solidFill>
              <a:srgbClr val="3B8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02920" y="2697480"/>
            <a:ext cx="3901222" cy="1920240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 flipH="1" rot="10800000">
            <a:off x="512064" y="2685724"/>
            <a:ext cx="3892078" cy="522514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2563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2040419" y="2743200"/>
            <a:ext cx="41513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Initial Week Insights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81366" y="3272246"/>
            <a:ext cx="4032504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B3C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B3C"/>
                </a:solidFill>
                <a:latin typeface="Calibri"/>
                <a:ea typeface="Calibri"/>
                <a:cs typeface="Calibri"/>
                <a:sym typeface="Calibri"/>
              </a:rPr>
              <a:t>Shopping Ads over Search Ads — visual ads outperform text for B2B buyers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B3C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B3C"/>
                </a:solidFill>
                <a:latin typeface="Calibri"/>
                <a:ea typeface="Calibri"/>
                <a:cs typeface="Calibri"/>
                <a:sym typeface="Calibri"/>
              </a:rPr>
              <a:t>Google Ads auction system — competitive bidding dynamics with real-time pricing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B3C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B3C"/>
                </a:solidFill>
                <a:latin typeface="Calibri"/>
                <a:ea typeface="Calibri"/>
                <a:cs typeface="Calibri"/>
                <a:sym typeface="Calibri"/>
              </a:rPr>
              <a:t>Non-IM Sellers running their ads directly on IndiaMART platform for product visibility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" name="Google Shape;38;p2"/>
          <p:cNvGrpSpPr/>
          <p:nvPr/>
        </p:nvGrpSpPr>
        <p:grpSpPr>
          <a:xfrm>
            <a:off x="4909250" y="998516"/>
            <a:ext cx="4476413" cy="1638567"/>
            <a:chOff x="4617720" y="777240"/>
            <a:chExt cx="4921046" cy="1815737"/>
          </a:xfrm>
        </p:grpSpPr>
        <p:sp>
          <p:nvSpPr>
            <p:cNvPr id="39" name="Google Shape;39;p2"/>
            <p:cNvSpPr/>
            <p:nvPr/>
          </p:nvSpPr>
          <p:spPr>
            <a:xfrm>
              <a:off x="4649724" y="962732"/>
              <a:ext cx="3161539" cy="1630245"/>
            </a:xfrm>
            <a:prstGeom prst="rect">
              <a:avLst/>
            </a:prstGeom>
            <a:solidFill>
              <a:srgbClr val="F0F4FA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4617720" y="777240"/>
              <a:ext cx="3193543" cy="231857"/>
            </a:xfrm>
            <a:prstGeom prst="rect">
              <a:avLst/>
            </a:prstGeom>
            <a:solidFill>
              <a:srgbClr val="1B3A6B"/>
            </a:solidFill>
            <a:ln cap="flat" cmpd="sng" w="12700">
              <a:solidFill>
                <a:srgbClr val="1B3A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703935" y="1084451"/>
              <a:ext cx="51729" cy="359379"/>
            </a:xfrm>
            <a:prstGeom prst="rect">
              <a:avLst/>
            </a:prstGeom>
            <a:solidFill>
              <a:srgbClr val="3B82C4"/>
            </a:solidFill>
            <a:ln cap="flat" cmpd="sng" w="12700">
              <a:solidFill>
                <a:srgbClr val="3B82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4703935" y="1617723"/>
              <a:ext cx="51729" cy="359379"/>
            </a:xfrm>
            <a:prstGeom prst="rect">
              <a:avLst/>
            </a:prstGeom>
            <a:solidFill>
              <a:srgbClr val="3B82C4"/>
            </a:solidFill>
            <a:ln cap="flat" cmpd="sng" w="12700">
              <a:solidFill>
                <a:srgbClr val="3B82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788420" y="783901"/>
              <a:ext cx="3750346" cy="2318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lang="en-US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Core Concepts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833257" y="1096044"/>
              <a:ext cx="3577917" cy="144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B3C"/>
                </a:buClr>
                <a:buSzPts val="1050"/>
                <a:buFont typeface="Calibri"/>
                <a:buNone/>
              </a:pPr>
              <a:r>
                <a:rPr b="1" lang="en-US" sz="1050">
                  <a:solidFill>
                    <a:srgbClr val="1E2B3C"/>
                  </a:solidFill>
                  <a:latin typeface="Calibri"/>
                  <a:ea typeface="Calibri"/>
                  <a:cs typeface="Calibri"/>
                  <a:sym typeface="Calibri"/>
                </a:rPr>
                <a:t>Buylead Lifecycle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833257" y="1246751"/>
              <a:ext cx="3577917" cy="16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950"/>
                <a:buFont typeface="Calibri"/>
                <a:buNone/>
              </a:pPr>
              <a:r>
                <a:rPr lang="en-US" sz="95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Expires in 3 days · Max 5 sellers can respond</a:t>
              </a:r>
              <a:endParaRPr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4833257" y="1629316"/>
              <a:ext cx="3577917" cy="144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B3C"/>
                </a:buClr>
                <a:buSzPts val="1050"/>
                <a:buFont typeface="Calibri"/>
                <a:buNone/>
              </a:pPr>
              <a:r>
                <a:rPr b="1" lang="en-US" sz="1050">
                  <a:solidFill>
                    <a:srgbClr val="1E2B3C"/>
                  </a:solidFill>
                  <a:latin typeface="Calibri"/>
                  <a:ea typeface="Calibri"/>
                  <a:cs typeface="Calibri"/>
                  <a:sym typeface="Calibri"/>
                </a:rPr>
                <a:t>Pause/Unpause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4833257" y="1780023"/>
              <a:ext cx="3577917" cy="16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950"/>
                <a:buFont typeface="Calibri"/>
                <a:buNone/>
              </a:pPr>
              <a:r>
                <a:rPr lang="en-US" sz="95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Ads Paused when BL Count on MCAT&gt;40(Last 3 Days)</a:t>
              </a:r>
              <a:endParaRPr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" name="Google Shape;48;p2"/>
            <p:cNvGrpSpPr/>
            <p:nvPr/>
          </p:nvGrpSpPr>
          <p:grpSpPr>
            <a:xfrm>
              <a:off x="4703935" y="2095132"/>
              <a:ext cx="3707239" cy="359379"/>
              <a:chOff x="4703935" y="2684267"/>
              <a:chExt cx="3707239" cy="359379"/>
            </a:xfrm>
          </p:grpSpPr>
          <p:sp>
            <p:nvSpPr>
              <p:cNvPr id="49" name="Google Shape;49;p2"/>
              <p:cNvSpPr/>
              <p:nvPr/>
            </p:nvSpPr>
            <p:spPr>
              <a:xfrm>
                <a:off x="4703935" y="2684267"/>
                <a:ext cx="51729" cy="359379"/>
              </a:xfrm>
              <a:prstGeom prst="rect">
                <a:avLst/>
              </a:prstGeom>
              <a:solidFill>
                <a:srgbClr val="3B82C4"/>
              </a:solidFill>
              <a:ln cap="flat" cmpd="sng" w="12700">
                <a:solidFill>
                  <a:srgbClr val="3B82C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4833257" y="2695860"/>
                <a:ext cx="3577917" cy="1449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1050"/>
                  <a:buFont typeface="Calibri"/>
                  <a:buNone/>
                </a:pPr>
                <a:r>
                  <a:rPr b="1" lang="en-US" sz="10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PMCAT Strategy</a:t>
                </a: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4833257" y="2846567"/>
                <a:ext cx="3577917" cy="16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64748B"/>
                  </a:buClr>
                  <a:buSzPts val="950"/>
                  <a:buFont typeface="Calibri"/>
                  <a:buNone/>
                </a:pPr>
                <a:r>
                  <a:rPr lang="en-US" sz="950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↑ Ads for 0 BL MCATs · ↓ Ads for ≥100 BL MCATs</a:t>
                </a:r>
                <a:endParaRPr sz="9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2" name="Google Shape;52;p2"/>
          <p:cNvGrpSpPr/>
          <p:nvPr/>
        </p:nvGrpSpPr>
        <p:grpSpPr>
          <a:xfrm>
            <a:off x="481366" y="1021187"/>
            <a:ext cx="5599394" cy="1531334"/>
            <a:chOff x="598934" y="886928"/>
            <a:chExt cx="5690242" cy="1531334"/>
          </a:xfrm>
        </p:grpSpPr>
        <p:sp>
          <p:nvSpPr>
            <p:cNvPr id="53" name="Google Shape;53;p2"/>
            <p:cNvSpPr/>
            <p:nvPr/>
          </p:nvSpPr>
          <p:spPr>
            <a:xfrm>
              <a:off x="630938" y="929096"/>
              <a:ext cx="3922776" cy="1489166"/>
            </a:xfrm>
            <a:prstGeom prst="rect">
              <a:avLst/>
            </a:prstGeom>
            <a:solidFill>
              <a:srgbClr val="F0F4FA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 flipH="1" rot="10800000">
              <a:off x="640630" y="886928"/>
              <a:ext cx="3922776" cy="522514"/>
            </a:xfrm>
            <a:prstGeom prst="rect">
              <a:avLst/>
            </a:prstGeom>
            <a:solidFill>
              <a:srgbClr val="002060"/>
            </a:solidFill>
            <a:ln cap="flat" cmpd="sng" w="12700">
              <a:solidFill>
                <a:srgbClr val="2563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highlight>
                  <a:srgbClr val="00008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2137800" y="991186"/>
              <a:ext cx="4151376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Objective</a:t>
              </a:r>
              <a:endParaRPr b="1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598934" y="1523456"/>
              <a:ext cx="4032504" cy="7939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1C4587"/>
                  </a:solidFill>
                  <a:latin typeface="Calibri"/>
                  <a:ea typeface="Calibri"/>
                  <a:cs typeface="Calibri"/>
                  <a:sym typeface="Calibri"/>
                </a:rPr>
                <a:t>“Build intelligent automation &amp; BI solutions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1C4587"/>
                  </a:solidFill>
                  <a:latin typeface="Calibri"/>
                  <a:ea typeface="Calibri"/>
                  <a:cs typeface="Calibri"/>
                  <a:sym typeface="Calibri"/>
                </a:rPr>
                <a:t>to drive decisions, maximise BL generation and BL sold revenue across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1C4587"/>
                  </a:solidFill>
                  <a:latin typeface="Calibri"/>
                  <a:ea typeface="Calibri"/>
                  <a:cs typeface="Calibri"/>
                  <a:sym typeface="Calibri"/>
                </a:rPr>
                <a:t>IndiaMART’s Marketplace Shopping Ads campaigns.”</a:t>
              </a:r>
              <a:endParaRPr/>
            </a:p>
          </p:txBody>
        </p:sp>
      </p:grpSp>
      <p:grpSp>
        <p:nvGrpSpPr>
          <p:cNvPr id="57" name="Google Shape;57;p2"/>
          <p:cNvGrpSpPr/>
          <p:nvPr/>
        </p:nvGrpSpPr>
        <p:grpSpPr>
          <a:xfrm>
            <a:off x="4901184" y="2774243"/>
            <a:ext cx="2923467" cy="1824331"/>
            <a:chOff x="235457" y="758952"/>
            <a:chExt cx="3749040" cy="2432304"/>
          </a:xfrm>
        </p:grpSpPr>
        <p:sp>
          <p:nvSpPr>
            <p:cNvPr id="58" name="Google Shape;58;p2"/>
            <p:cNvSpPr/>
            <p:nvPr/>
          </p:nvSpPr>
          <p:spPr>
            <a:xfrm>
              <a:off x="235457" y="758952"/>
              <a:ext cx="3749040" cy="64008"/>
            </a:xfrm>
            <a:prstGeom prst="rect">
              <a:avLst/>
            </a:prstGeom>
            <a:solidFill>
              <a:srgbClr val="1C2F6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72617" y="850392"/>
              <a:ext cx="34747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C2F6B"/>
                </a:buClr>
                <a:buSzPts val="1200"/>
                <a:buFont typeface="Calibri"/>
                <a:buNone/>
              </a:pPr>
              <a:r>
                <a:rPr b="1" lang="en-US" sz="1200">
                  <a:solidFill>
                    <a:srgbClr val="1C2F6B"/>
                  </a:solidFill>
                  <a:latin typeface="Calibri"/>
                  <a:ea typeface="Calibri"/>
                  <a:cs typeface="Calibri"/>
                  <a:sym typeface="Calibri"/>
                </a:rPr>
                <a:t>KPI Flag Thresholds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281177" y="1170432"/>
              <a:ext cx="1005840" cy="457200"/>
            </a:xfrm>
            <a:prstGeom prst="rect">
              <a:avLst/>
            </a:prstGeom>
            <a:solidFill>
              <a:srgbClr val="1C2F6B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326897" y="1216152"/>
              <a:ext cx="9144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Calibri"/>
                <a:buNone/>
              </a:pPr>
              <a:r>
                <a:rPr b="1" lang="en-US" sz="1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Flag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1332737" y="1170432"/>
              <a:ext cx="1097280" cy="457200"/>
            </a:xfrm>
            <a:prstGeom prst="rect">
              <a:avLst/>
            </a:prstGeom>
            <a:solidFill>
              <a:srgbClr val="1C2F6B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1378457" y="1216152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Calibri"/>
                <a:buNone/>
              </a:pPr>
              <a:r>
                <a:rPr b="1" lang="en-US" sz="1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Transactions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2475737" y="1170432"/>
              <a:ext cx="1508760" cy="457200"/>
            </a:xfrm>
            <a:prstGeom prst="rect">
              <a:avLst/>
            </a:prstGeom>
            <a:solidFill>
              <a:srgbClr val="1C2F6B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2521457" y="1216152"/>
              <a:ext cx="14173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Calibri"/>
                <a:buNone/>
              </a:pPr>
              <a:r>
                <a:rPr b="1" lang="en-US" sz="1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Action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281177" y="1691640"/>
              <a:ext cx="1005840" cy="457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326897" y="1737360"/>
              <a:ext cx="9144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050"/>
                <a:buFont typeface="Calibri"/>
                <a:buNone/>
              </a:pPr>
              <a:r>
                <a:rPr lang="en-US" sz="105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🔴 High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1332737" y="1691640"/>
              <a:ext cx="1097280" cy="457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1378457" y="1737360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050"/>
                <a:buFont typeface="Calibri"/>
                <a:buNone/>
              </a:pPr>
              <a:r>
                <a:rPr lang="en-US" sz="105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400+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2475737" y="1691640"/>
              <a:ext cx="1508760" cy="457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2521457" y="1737360"/>
              <a:ext cx="14173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050"/>
                <a:buFont typeface="Calibri"/>
                <a:buNone/>
              </a:pPr>
              <a:r>
                <a:rPr lang="en-US" sz="105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Scale &amp; maintain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281177" y="2212848"/>
              <a:ext cx="1005840" cy="457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26897" y="2258568"/>
              <a:ext cx="9144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050"/>
                <a:buFont typeface="Calibri"/>
                <a:buNone/>
              </a:pPr>
              <a:r>
                <a:rPr lang="en-US" sz="105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🟡 Medium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1332737" y="2212848"/>
              <a:ext cx="1097280" cy="457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1378457" y="2258568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050"/>
                <a:buFont typeface="Calibri"/>
                <a:buNone/>
              </a:pPr>
              <a:r>
                <a:rPr lang="en-US" sz="105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350–400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2475737" y="2212848"/>
              <a:ext cx="1508760" cy="457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2521457" y="2258568"/>
              <a:ext cx="14173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050"/>
                <a:buFont typeface="Calibri"/>
                <a:buNone/>
              </a:pPr>
              <a:r>
                <a:rPr lang="en-US" sz="105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Optimise spend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281177" y="2734056"/>
              <a:ext cx="1005840" cy="457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326897" y="2779776"/>
              <a:ext cx="9144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050"/>
                <a:buFont typeface="Calibri"/>
                <a:buNone/>
              </a:pPr>
              <a:r>
                <a:rPr lang="en-US" sz="105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🟢 Low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332737" y="2734056"/>
              <a:ext cx="1097280" cy="457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378457" y="2779776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050"/>
                <a:buFont typeface="Calibri"/>
                <a:buNone/>
              </a:pPr>
              <a:r>
                <a:rPr lang="en-US" sz="105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300–350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2475737" y="2734056"/>
              <a:ext cx="1508760" cy="457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2521457" y="2779776"/>
              <a:ext cx="14173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050"/>
                <a:buFont typeface="Calibri"/>
                <a:buNone/>
              </a:pPr>
              <a:r>
                <a:rPr lang="en-US" sz="105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Boost ad exposure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e6a231c308_3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850" y="1035649"/>
            <a:ext cx="7346300" cy="36653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e6a231c308_3_0"/>
          <p:cNvSpPr/>
          <p:nvPr/>
        </p:nvSpPr>
        <p:spPr>
          <a:xfrm>
            <a:off x="399070" y="63802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Role &amp; Business Understanding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6a231c308_3_57"/>
          <p:cNvSpPr txBox="1"/>
          <p:nvPr>
            <p:ph type="title"/>
          </p:nvPr>
        </p:nvSpPr>
        <p:spPr>
          <a:xfrm>
            <a:off x="305159" y="228555"/>
            <a:ext cx="6662700" cy="53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Painpoints- Things I need to automate/what are actual painpoints that I had to automate.</a:t>
            </a:r>
            <a:endParaRPr/>
          </a:p>
        </p:txBody>
      </p:sp>
      <p:sp>
        <p:nvSpPr>
          <p:cNvPr id="95" name="Google Shape;95;g3e6a231c308_3_57"/>
          <p:cNvSpPr/>
          <p:nvPr>
            <p:ph idx="2" type="chart"/>
          </p:nvPr>
        </p:nvSpPr>
        <p:spPr>
          <a:xfrm>
            <a:off x="4354476" y="1242249"/>
            <a:ext cx="3875400" cy="2988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e6a231c308_3_57"/>
          <p:cNvSpPr txBox="1"/>
          <p:nvPr>
            <p:ph idx="1" type="body"/>
          </p:nvPr>
        </p:nvSpPr>
        <p:spPr>
          <a:xfrm>
            <a:off x="305159" y="1242249"/>
            <a:ext cx="2749200" cy="92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411480" y="136017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Tasks Overview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0" y="4846320"/>
            <a:ext cx="9144000" cy="91440"/>
          </a:xfrm>
          <a:prstGeom prst="rect">
            <a:avLst/>
          </a:prstGeom>
          <a:solidFill>
            <a:srgbClr val="3B82C4"/>
          </a:solidFill>
          <a:ln cap="flat" cmpd="sng" w="12700">
            <a:solidFill>
              <a:srgbClr val="3B8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IndiaMART | Product Management Internship | April 2026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4" name="Google Shape;104;p3"/>
          <p:cNvGraphicFramePr/>
          <p:nvPr/>
        </p:nvGraphicFramePr>
        <p:xfrm>
          <a:off x="411480" y="12550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{BA5383E2-82FB-4F88-97F2-8A5A168AEFB1}</a:tableStyleId>
              </a:tblPr>
              <a:tblGrid>
                <a:gridCol w="320050"/>
                <a:gridCol w="2926075"/>
                <a:gridCol w="2423150"/>
                <a:gridCol w="1280150"/>
                <a:gridCol w="1097275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Task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Focus Area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EDD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Pause/Unpause MCAT Analysis Automation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MCAT lifecycle &amp; instability tracking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 Apr 2026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Interactive KPI Dashboard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Real-time ads performance visualization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Completed</a:t>
                      </a: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May 2026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Daily KPI Tracker — B&amp;C Campaign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Automating weekly → daily KPI reporting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WIP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 Apr 2026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Active MCAT Ads Data Automation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Fetch live MCATs with active ads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WIP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May 2026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 Label Mismatch Detection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 label-3 inconsistency detection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 Hold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TBD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/>
          <p:nvPr/>
        </p:nvSpPr>
        <p:spPr>
          <a:xfrm>
            <a:off x="210312" y="68580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Task 1: Pause/Unpause MCAT Automation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0" y="4846320"/>
            <a:ext cx="9144000" cy="91440"/>
          </a:xfrm>
          <a:prstGeom prst="rect">
            <a:avLst/>
          </a:prstGeom>
          <a:solidFill>
            <a:srgbClr val="3B82C4"/>
          </a:solidFill>
          <a:ln cap="flat" cmpd="sng" w="12700">
            <a:solidFill>
              <a:srgbClr val="3B8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" name="Google Shape;111;p4"/>
          <p:cNvGrpSpPr/>
          <p:nvPr/>
        </p:nvGrpSpPr>
        <p:grpSpPr>
          <a:xfrm>
            <a:off x="214476" y="1701709"/>
            <a:ext cx="6953706" cy="3218972"/>
            <a:chOff x="201168" y="658367"/>
            <a:chExt cx="8916730" cy="4463116"/>
          </a:xfrm>
        </p:grpSpPr>
        <p:sp>
          <p:nvSpPr>
            <p:cNvPr id="112" name="Google Shape;112;p4"/>
            <p:cNvSpPr/>
            <p:nvPr/>
          </p:nvSpPr>
          <p:spPr>
            <a:xfrm>
              <a:off x="201168" y="658368"/>
              <a:ext cx="1993392" cy="4261696"/>
            </a:xfrm>
            <a:prstGeom prst="rect">
              <a:avLst/>
            </a:prstGeom>
            <a:solidFill>
              <a:srgbClr val="FFFFFF"/>
            </a:solidFill>
            <a:ln cap="flat" cmpd="sng" w="101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38100">
                <a:srgbClr val="000000">
                  <a:alpha val="9019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201168" y="658368"/>
              <a:ext cx="1993392" cy="621792"/>
            </a:xfrm>
            <a:prstGeom prst="rect">
              <a:avLst/>
            </a:prstGeom>
            <a:solidFill>
              <a:srgbClr val="2563A8"/>
            </a:solidFill>
            <a:ln cap="flat" cmpd="sng" w="12700">
              <a:solidFill>
                <a:srgbClr val="2563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2459736" y="658367"/>
              <a:ext cx="1993392" cy="4261697"/>
            </a:xfrm>
            <a:prstGeom prst="rect">
              <a:avLst/>
            </a:prstGeom>
            <a:solidFill>
              <a:srgbClr val="FFFFFF"/>
            </a:solidFill>
            <a:ln cap="flat" cmpd="sng" w="101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38100">
                <a:srgbClr val="000000">
                  <a:alpha val="9019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2459736" y="658368"/>
              <a:ext cx="1993392" cy="621792"/>
            </a:xfrm>
            <a:prstGeom prst="rect">
              <a:avLst/>
            </a:prstGeom>
            <a:solidFill>
              <a:srgbClr val="0369A1"/>
            </a:solidFill>
            <a:ln cap="flat" cmpd="sng" w="12700">
              <a:solidFill>
                <a:srgbClr val="0369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4718304" y="658368"/>
              <a:ext cx="1993392" cy="4160520"/>
            </a:xfrm>
            <a:prstGeom prst="rect">
              <a:avLst/>
            </a:prstGeom>
            <a:solidFill>
              <a:srgbClr val="FFFFFF"/>
            </a:solidFill>
            <a:ln cap="flat" cmpd="sng" w="101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38100">
                <a:srgbClr val="000000">
                  <a:alpha val="9019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4718304" y="658368"/>
              <a:ext cx="1993392" cy="621792"/>
            </a:xfrm>
            <a:prstGeom prst="rect">
              <a:avLst/>
            </a:prstGeom>
            <a:solidFill>
              <a:srgbClr val="D97706"/>
            </a:solidFill>
            <a:ln cap="flat" cmpd="sng" w="12700">
              <a:solidFill>
                <a:srgbClr val="D977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6976872" y="658368"/>
              <a:ext cx="1993392" cy="4160520"/>
            </a:xfrm>
            <a:prstGeom prst="rect">
              <a:avLst/>
            </a:prstGeom>
            <a:solidFill>
              <a:srgbClr val="FFFFFF"/>
            </a:solidFill>
            <a:ln cap="flat" cmpd="sng" w="101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38100">
                <a:srgbClr val="000000">
                  <a:alpha val="9019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6976872" y="658368"/>
              <a:ext cx="1993392" cy="621792"/>
            </a:xfrm>
            <a:prstGeom prst="rect">
              <a:avLst/>
            </a:prstGeom>
            <a:solidFill>
              <a:srgbClr val="16A34A"/>
            </a:solidFill>
            <a:ln cap="flat" cmpd="sng" w="12700">
              <a:solidFill>
                <a:srgbClr val="16A3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0" name="Google Shape;120;p4"/>
            <p:cNvGrpSpPr/>
            <p:nvPr/>
          </p:nvGrpSpPr>
          <p:grpSpPr>
            <a:xfrm>
              <a:off x="274320" y="749808"/>
              <a:ext cx="8843578" cy="4371675"/>
              <a:chOff x="274320" y="749808"/>
              <a:chExt cx="8843578" cy="4371675"/>
            </a:xfrm>
          </p:grpSpPr>
          <p:sp>
            <p:nvSpPr>
              <p:cNvPr id="121" name="Google Shape;121;p4"/>
              <p:cNvSpPr/>
              <p:nvPr/>
            </p:nvSpPr>
            <p:spPr>
              <a:xfrm>
                <a:off x="292608" y="749808"/>
                <a:ext cx="347472" cy="347472"/>
              </a:xfrm>
              <a:prstGeom prst="ellipse">
                <a:avLst/>
              </a:prstGeom>
              <a:solidFill>
                <a:srgbClr val="FFFFFF">
                  <a:alpha val="80000"/>
                </a:srgbClr>
              </a:solidFill>
              <a:ln cap="flat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292608" y="749808"/>
                <a:ext cx="347472" cy="347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2563A8"/>
                  </a:buClr>
                  <a:buSzPts val="900"/>
                  <a:buFont typeface="Calibri"/>
                  <a:buNone/>
                </a:pPr>
                <a:r>
                  <a:rPr b="1" lang="en-US" sz="900">
                    <a:solidFill>
                      <a:srgbClr val="2563A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01</a:t>
                </a:r>
                <a:endParaRPr sz="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704088" y="749808"/>
                <a:ext cx="45720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274320" y="1280160"/>
                <a:ext cx="1856232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1000"/>
                  <a:buFont typeface="Calibri"/>
                  <a:buNone/>
                </a:pPr>
                <a:r>
                  <a:rPr b="1" lang="en-US" sz="100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Initial</a:t>
                </a:r>
                <a:endParaRPr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1000"/>
                  <a:buFont typeface="Calibri"/>
                  <a:buNone/>
                </a:pPr>
                <a:r>
                  <a:rPr b="1" lang="en-US" sz="100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Exploration</a:t>
                </a:r>
                <a:endParaRPr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4"/>
              <p:cNvSpPr/>
              <p:nvPr/>
            </p:nvSpPr>
            <p:spPr>
              <a:xfrm>
                <a:off x="292608" y="1773936"/>
                <a:ext cx="1828800" cy="20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Raw pause/unpause data from live sheets</a:t>
                </a:r>
                <a:endParaRPr sz="8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Pivot: paused vs unpaused MCAT counts</a:t>
                </a:r>
                <a:endParaRPr sz="8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Instability Score = Pause + Unpause freq.</a:t>
                </a:r>
                <a:endParaRPr sz="8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Identified top unstable MCATs</a:t>
                </a:r>
                <a:endParaRPr sz="8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313971" y="4030832"/>
                <a:ext cx="1856232" cy="713231"/>
              </a:xfrm>
              <a:prstGeom prst="rect">
                <a:avLst/>
              </a:prstGeom>
              <a:solidFill>
                <a:srgbClr val="FEF2F2"/>
              </a:solidFill>
              <a:ln cap="flat" cmpd="sng" w="9525">
                <a:solidFill>
                  <a:srgbClr val="B91C1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320040" y="4059193"/>
                <a:ext cx="1792224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B91C1C"/>
                  </a:buClr>
                  <a:buSzPts val="750"/>
                  <a:buFont typeface="Calibri"/>
                  <a:buNone/>
                </a:pPr>
                <a:r>
                  <a:rPr b="1" lang="en-US" sz="750">
                    <a:solidFill>
                      <a:srgbClr val="B91C1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Limitation</a:t>
                </a:r>
                <a:endParaRPr sz="7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338329" y="4225681"/>
                <a:ext cx="1792224" cy="4389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B91C1C"/>
                  </a:buClr>
                  <a:buSzPts val="800"/>
                  <a:buFont typeface="Calibri"/>
                  <a:buNone/>
                </a:pPr>
                <a:r>
                  <a:rPr lang="en-US" sz="800">
                    <a:solidFill>
                      <a:srgbClr val="B91C1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 lifecycle visibility · Missing cycle-level insights</a:t>
                </a:r>
                <a:endParaRPr sz="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9" name="Google Shape;129;p4"/>
              <p:cNvCxnSpPr/>
              <p:nvPr/>
            </p:nvCxnSpPr>
            <p:spPr>
              <a:xfrm>
                <a:off x="2203704" y="2729484"/>
                <a:ext cx="146304" cy="0"/>
              </a:xfrm>
              <a:prstGeom prst="straightConnector1">
                <a:avLst/>
              </a:prstGeom>
              <a:noFill/>
              <a:ln cap="flat" cmpd="sng" w="31750">
                <a:solidFill>
                  <a:srgbClr val="3B82C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30" name="Google Shape;130;p4"/>
              <p:cNvSpPr/>
              <p:nvPr/>
            </p:nvSpPr>
            <p:spPr>
              <a:xfrm>
                <a:off x="2221992" y="2564892"/>
                <a:ext cx="201168" cy="329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3B82C4"/>
                  </a:buClr>
                  <a:buSzPts val="2000"/>
                  <a:buFont typeface="Calibri"/>
                  <a:buNone/>
                </a:pPr>
                <a:r>
                  <a:rPr b="1" lang="en-US" sz="2000">
                    <a:solidFill>
                      <a:srgbClr val="3B82C4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›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4"/>
              <p:cNvSpPr/>
              <p:nvPr/>
            </p:nvSpPr>
            <p:spPr>
              <a:xfrm>
                <a:off x="2551176" y="749808"/>
                <a:ext cx="347472" cy="347472"/>
              </a:xfrm>
              <a:prstGeom prst="ellipse">
                <a:avLst/>
              </a:prstGeom>
              <a:solidFill>
                <a:srgbClr val="FFFFFF">
                  <a:alpha val="80000"/>
                </a:srgbClr>
              </a:solidFill>
              <a:ln cap="flat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2551176" y="749808"/>
                <a:ext cx="347472" cy="347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369A1"/>
                  </a:buClr>
                  <a:buSzPts val="900"/>
                  <a:buFont typeface="Calibri"/>
                  <a:buNone/>
                </a:pPr>
                <a:r>
                  <a:rPr b="1" lang="en-US" sz="900">
                    <a:solidFill>
                      <a:srgbClr val="0369A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02</a:t>
                </a:r>
                <a:endParaRPr sz="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2962656" y="749808"/>
                <a:ext cx="45720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2532888" y="1280160"/>
                <a:ext cx="1856232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1000"/>
                  <a:buFont typeface="Calibri"/>
                  <a:buNone/>
                </a:pPr>
                <a:r>
                  <a:rPr b="1" lang="en-US" sz="100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Data Structuring</a:t>
                </a:r>
                <a:endParaRPr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1000"/>
                  <a:buFont typeface="Calibri"/>
                  <a:buNone/>
                </a:pPr>
                <a:r>
                  <a:rPr b="1" lang="en-US" sz="100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&amp; Merging</a:t>
                </a:r>
                <a:endParaRPr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4"/>
              <p:cNvSpPr/>
              <p:nvPr/>
            </p:nvSpPr>
            <p:spPr>
              <a:xfrm>
                <a:off x="2551176" y="1773936"/>
                <a:ext cx="1828800" cy="20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Unpaused sheet as base dataset</a:t>
                </a:r>
                <a:endParaRPr sz="8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Merged Pause + Unpause on MCAT ID</a:t>
                </a:r>
                <a:endParaRPr sz="8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"Currently Paused" flag for unmatched rows</a:t>
                </a:r>
                <a:endParaRPr sz="8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Cycle tracking: Pause Date(Pause BL) → Unpause Date(Unpause BL)</a:t>
                </a:r>
                <a:endParaRPr sz="8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4"/>
              <p:cNvSpPr/>
              <p:nvPr/>
            </p:nvSpPr>
            <p:spPr>
              <a:xfrm>
                <a:off x="2551176" y="4030830"/>
                <a:ext cx="1856232" cy="713233"/>
              </a:xfrm>
              <a:prstGeom prst="rect">
                <a:avLst/>
              </a:prstGeom>
              <a:solidFill>
                <a:srgbClr val="FEF2F2"/>
              </a:solidFill>
              <a:ln cap="flat" cmpd="sng" w="9525">
                <a:solidFill>
                  <a:srgbClr val="B91C1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4"/>
              <p:cNvSpPr/>
              <p:nvPr/>
            </p:nvSpPr>
            <p:spPr>
              <a:xfrm>
                <a:off x="2542030" y="4062821"/>
                <a:ext cx="1792224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B91C1C"/>
                  </a:buClr>
                  <a:buSzPts val="750"/>
                  <a:buFont typeface="Calibri"/>
                  <a:buNone/>
                </a:pPr>
                <a:r>
                  <a:rPr b="1" lang="en-US" sz="750">
                    <a:solidFill>
                      <a:srgbClr val="B91C1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Limitation</a:t>
                </a:r>
                <a:endParaRPr sz="7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2542029" y="4284570"/>
                <a:ext cx="1984249" cy="4389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-171450" lvl="0" marL="17145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B91C1C"/>
                  </a:buClr>
                  <a:buSzPts val="800"/>
                  <a:buFont typeface="Arial"/>
                  <a:buChar char="•"/>
                </a:pPr>
                <a:r>
                  <a:rPr lang="en-US" sz="800">
                    <a:solidFill>
                      <a:srgbClr val="B91C1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Manual/ Not Automated. </a:t>
                </a:r>
                <a:endParaRPr/>
              </a:p>
              <a:p>
                <a:pPr indent="-171450" lvl="0" marL="17145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B91C1C"/>
                  </a:buClr>
                  <a:buSzPts val="800"/>
                  <a:buFont typeface="Arial"/>
                  <a:buChar char="•"/>
                </a:pPr>
                <a:r>
                  <a:rPr lang="en-US" sz="800">
                    <a:solidFill>
                      <a:srgbClr val="B91C1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Visually Difficult to Understand</a:t>
                </a:r>
                <a:endParaRPr sz="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9" name="Google Shape;139;p4"/>
              <p:cNvCxnSpPr/>
              <p:nvPr/>
            </p:nvCxnSpPr>
            <p:spPr>
              <a:xfrm>
                <a:off x="4462272" y="2729484"/>
                <a:ext cx="146304" cy="0"/>
              </a:xfrm>
              <a:prstGeom prst="straightConnector1">
                <a:avLst/>
              </a:prstGeom>
              <a:noFill/>
              <a:ln cap="flat" cmpd="sng" w="31750">
                <a:solidFill>
                  <a:srgbClr val="3B82C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40" name="Google Shape;140;p4"/>
              <p:cNvSpPr/>
              <p:nvPr/>
            </p:nvSpPr>
            <p:spPr>
              <a:xfrm>
                <a:off x="4480560" y="2564892"/>
                <a:ext cx="201168" cy="329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3B82C4"/>
                  </a:buClr>
                  <a:buSzPts val="2000"/>
                  <a:buFont typeface="Calibri"/>
                  <a:buNone/>
                </a:pPr>
                <a:r>
                  <a:rPr b="1" lang="en-US" sz="2000">
                    <a:solidFill>
                      <a:srgbClr val="3B82C4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›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4809744" y="749808"/>
                <a:ext cx="347472" cy="347472"/>
              </a:xfrm>
              <a:prstGeom prst="ellipse">
                <a:avLst/>
              </a:prstGeom>
              <a:solidFill>
                <a:srgbClr val="FFFFFF">
                  <a:alpha val="80000"/>
                </a:srgbClr>
              </a:solidFill>
              <a:ln cap="flat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4809744" y="749808"/>
                <a:ext cx="347472" cy="347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D97706"/>
                  </a:buClr>
                  <a:buSzPts val="900"/>
                  <a:buFont typeface="Calibri"/>
                  <a:buNone/>
                </a:pPr>
                <a:r>
                  <a:rPr b="1" lang="en-US" sz="900">
                    <a:solidFill>
                      <a:srgbClr val="D9770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03</a:t>
                </a:r>
                <a:endParaRPr sz="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4"/>
              <p:cNvSpPr/>
              <p:nvPr/>
            </p:nvSpPr>
            <p:spPr>
              <a:xfrm>
                <a:off x="4791456" y="1280160"/>
                <a:ext cx="1856232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1000"/>
                  <a:buFont typeface="Calibri"/>
                  <a:buNone/>
                </a:pPr>
                <a:r>
                  <a:rPr b="1" lang="en-US" sz="100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Automation</a:t>
                </a:r>
                <a:endParaRPr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1000"/>
                  <a:buFont typeface="Calibri"/>
                  <a:buNone/>
                </a:pPr>
                <a:r>
                  <a:rPr b="1" lang="en-US" sz="100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Attempt</a:t>
                </a:r>
                <a:endParaRPr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4"/>
              <p:cNvSpPr/>
              <p:nvPr/>
            </p:nvSpPr>
            <p:spPr>
              <a:xfrm>
                <a:off x="4809744" y="1773936"/>
                <a:ext cx="1828800" cy="20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Translated manual logic into LLM automation</a:t>
                </a:r>
                <a:endParaRPr sz="8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Fetched &amp; processed live sheet data</a:t>
                </a:r>
                <a:endParaRPr sz="8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Data missing before 8 Apr · bad outputs</a:t>
                </a: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4782311" y="4031072"/>
                <a:ext cx="1856232" cy="713231"/>
              </a:xfrm>
              <a:prstGeom prst="rect">
                <a:avLst/>
              </a:prstGeom>
              <a:solidFill>
                <a:srgbClr val="FFFBEB"/>
              </a:solidFill>
              <a:ln cap="flat" cmpd="sng" w="9525">
                <a:solidFill>
                  <a:srgbClr val="B4530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4846320" y="4050792"/>
                <a:ext cx="1792224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B45309"/>
                  </a:buClr>
                  <a:buSzPts val="750"/>
                  <a:buFont typeface="Calibri"/>
                  <a:buNone/>
                </a:pPr>
                <a:r>
                  <a:rPr b="1" lang="en-US" sz="750">
                    <a:solidFill>
                      <a:srgbClr val="B4530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Key Decision</a:t>
                </a:r>
                <a:endParaRPr sz="7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4846320" y="4213457"/>
                <a:ext cx="1792224" cy="4389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B45309"/>
                  </a:buClr>
                  <a:buSzPts val="800"/>
                  <a:buFont typeface="Calibri"/>
                  <a:buNone/>
                </a:pPr>
                <a:r>
                  <a:rPr lang="en-US" sz="800">
                    <a:solidFill>
                      <a:srgbClr val="B4530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Reduced scope → last 10 days for clarity &amp; scale</a:t>
                </a:r>
                <a:endParaRPr sz="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48" name="Google Shape;148;p4"/>
              <p:cNvCxnSpPr/>
              <p:nvPr/>
            </p:nvCxnSpPr>
            <p:spPr>
              <a:xfrm>
                <a:off x="6720840" y="2729484"/>
                <a:ext cx="146304" cy="0"/>
              </a:xfrm>
              <a:prstGeom prst="straightConnector1">
                <a:avLst/>
              </a:prstGeom>
              <a:noFill/>
              <a:ln cap="flat" cmpd="sng" w="31750">
                <a:solidFill>
                  <a:srgbClr val="3B82C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49" name="Google Shape;149;p4"/>
              <p:cNvSpPr/>
              <p:nvPr/>
            </p:nvSpPr>
            <p:spPr>
              <a:xfrm>
                <a:off x="6739128" y="2564892"/>
                <a:ext cx="201168" cy="329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3B82C4"/>
                  </a:buClr>
                  <a:buSzPts val="2000"/>
                  <a:buFont typeface="Calibri"/>
                  <a:buNone/>
                </a:pPr>
                <a:r>
                  <a:rPr b="1" lang="en-US" sz="2000">
                    <a:solidFill>
                      <a:srgbClr val="3B82C4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›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7068312" y="749808"/>
                <a:ext cx="347472" cy="347472"/>
              </a:xfrm>
              <a:prstGeom prst="ellipse">
                <a:avLst/>
              </a:prstGeom>
              <a:solidFill>
                <a:srgbClr val="FFFFFF">
                  <a:alpha val="80000"/>
                </a:srgbClr>
              </a:solidFill>
              <a:ln cap="flat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7068312" y="749808"/>
                <a:ext cx="347472" cy="347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16A34A"/>
                  </a:buClr>
                  <a:buSzPts val="900"/>
                  <a:buFont typeface="Calibri"/>
                  <a:buNone/>
                </a:pPr>
                <a:r>
                  <a:rPr b="1" lang="en-US" sz="900">
                    <a:solidFill>
                      <a:srgbClr val="16A34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04</a:t>
                </a:r>
                <a:endParaRPr sz="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7050024" y="1280160"/>
                <a:ext cx="1856232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1000"/>
                  <a:buFont typeface="Calibri"/>
                  <a:buNone/>
                </a:pPr>
                <a:r>
                  <a:rPr b="1" lang="en-US" sz="100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Final Solution</a:t>
                </a:r>
                <a:endParaRPr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1000"/>
                  <a:buFont typeface="Calibri"/>
                  <a:buNone/>
                </a:pPr>
                <a:r>
                  <a:rPr b="1" lang="en-US" sz="100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(Delivered)</a:t>
                </a:r>
                <a:endParaRPr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4"/>
              <p:cNvSpPr/>
              <p:nvPr/>
            </p:nvSpPr>
            <p:spPr>
              <a:xfrm>
                <a:off x="7068312" y="1773936"/>
                <a:ext cx="1828800" cy="20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Longest Currently Paused MCATs</a:t>
                </a:r>
                <a:endParaRPr/>
              </a:p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Heatmap-style pause/unpause timeline</a:t>
                </a:r>
                <a:endParaRPr/>
              </a:p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Count of MCATs paused till today</a:t>
                </a:r>
                <a:endParaRPr/>
              </a:p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Count of MCATs unpaused today</a:t>
                </a:r>
                <a:endParaRPr sz="8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Daily 9 AM email: Top 10 + Google Sheet attach</a:t>
                </a:r>
                <a:endParaRPr sz="8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4"/>
              <p:cNvSpPr/>
              <p:nvPr/>
            </p:nvSpPr>
            <p:spPr>
              <a:xfrm>
                <a:off x="6361811" y="3573713"/>
                <a:ext cx="2756087" cy="15477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1" marL="4572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800" u="sng" cap="none" strike="noStrike">
                    <a:solidFill>
                      <a:srgbClr val="548135"/>
                    </a:solidFill>
                    <a:latin typeface="Calibri"/>
                    <a:ea typeface="Calibri"/>
                    <a:cs typeface="Calibri"/>
                    <a:sym typeface="Calibri"/>
                    <a:hlinkClick r:id="rId3">
                      <a:extLst>
                        <a:ext uri="{A12FA001-AC4F-418D-AE19-62706E023703}">
                          <ahyp:hlinkClr val="tx"/>
                        </a:ext>
                      </a:extLst>
                    </a:hlinkClick>
                  </a:rPr>
                  <a:t>MCAT Pause/Unpause Analysis Report | 29-04-2026 - kratika.agarwal@indiamart.com - IndiaMart InterMesh Ltd. Mail</a:t>
                </a:r>
                <a:endParaRPr b="0" i="0" sz="800" u="none" cap="none" strike="noStrike">
                  <a:solidFill>
                    <a:srgbClr val="548135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5" name="Google Shape;155;p4"/>
          <p:cNvGrpSpPr/>
          <p:nvPr/>
        </p:nvGrpSpPr>
        <p:grpSpPr>
          <a:xfrm>
            <a:off x="210313" y="562814"/>
            <a:ext cx="6842736" cy="850391"/>
            <a:chOff x="228600" y="749808"/>
            <a:chExt cx="2852928" cy="1490472"/>
          </a:xfrm>
        </p:grpSpPr>
        <p:sp>
          <p:nvSpPr>
            <p:cNvPr id="156" name="Google Shape;156;p4"/>
            <p:cNvSpPr/>
            <p:nvPr/>
          </p:nvSpPr>
          <p:spPr>
            <a:xfrm>
              <a:off x="228600" y="749808"/>
              <a:ext cx="2852928" cy="149047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38100">
                <a:srgbClr val="000000">
                  <a:alpha val="784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4"/>
            <p:cNvSpPr/>
            <p:nvPr/>
          </p:nvSpPr>
          <p:spPr>
            <a:xfrm>
              <a:off x="228600" y="749808"/>
              <a:ext cx="2852928" cy="457200"/>
            </a:xfrm>
            <a:prstGeom prst="rect">
              <a:avLst/>
            </a:prstGeom>
            <a:solidFill>
              <a:srgbClr val="DC2626"/>
            </a:solidFill>
            <a:ln cap="flat" cmpd="sng" w="12700">
              <a:solidFill>
                <a:srgbClr val="DC26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4"/>
            <p:cNvSpPr/>
            <p:nvPr/>
          </p:nvSpPr>
          <p:spPr>
            <a:xfrm>
              <a:off x="312162" y="762682"/>
              <a:ext cx="2651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b="1"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PROBLEM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4"/>
            <p:cNvSpPr/>
            <p:nvPr/>
          </p:nvSpPr>
          <p:spPr>
            <a:xfrm>
              <a:off x="267013" y="1311333"/>
              <a:ext cx="2606040" cy="8046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1E2B3C"/>
                </a:buClr>
                <a:buSzPts val="1050"/>
                <a:buFont typeface="Calibri"/>
                <a:buChar char="•"/>
              </a:pPr>
              <a:r>
                <a:rPr lang="en-US" sz="1050">
                  <a:solidFill>
                    <a:srgbClr val="1E2B3C"/>
                  </a:solidFill>
                  <a:latin typeface="Calibri"/>
                  <a:ea typeface="Calibri"/>
                  <a:cs typeface="Calibri"/>
                  <a:sym typeface="Calibri"/>
                </a:rPr>
                <a:t>No visibility into MCAT pause/unpause behaviour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1E2B3C"/>
                </a:buClr>
                <a:buSzPts val="1050"/>
                <a:buFont typeface="Calibri"/>
                <a:buChar char="•"/>
              </a:pPr>
              <a:r>
                <a:rPr lang="en-US" sz="1050">
                  <a:solidFill>
                    <a:srgbClr val="1E2B3C"/>
                  </a:solidFill>
                  <a:latin typeface="Calibri"/>
                  <a:ea typeface="Calibri"/>
                  <a:cs typeface="Calibri"/>
                  <a:sym typeface="Calibri"/>
                </a:rPr>
                <a:t>Difficult to identify unstable or inefficient MCATs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4"/>
          <p:cNvGrpSpPr/>
          <p:nvPr/>
        </p:nvGrpSpPr>
        <p:grpSpPr>
          <a:xfrm>
            <a:off x="214476" y="1391925"/>
            <a:ext cx="6838572" cy="267504"/>
            <a:chOff x="116259" y="1362968"/>
            <a:chExt cx="2834640" cy="470107"/>
          </a:xfrm>
        </p:grpSpPr>
        <p:sp>
          <p:nvSpPr>
            <p:cNvPr id="161" name="Google Shape;161;p4"/>
            <p:cNvSpPr/>
            <p:nvPr/>
          </p:nvSpPr>
          <p:spPr>
            <a:xfrm>
              <a:off x="116259" y="1362968"/>
              <a:ext cx="2834640" cy="457200"/>
            </a:xfrm>
            <a:prstGeom prst="rect">
              <a:avLst/>
            </a:prstGeom>
            <a:solidFill>
              <a:srgbClr val="2563A8"/>
            </a:solidFill>
            <a:ln cap="flat" cmpd="sng" w="12700">
              <a:solidFill>
                <a:srgbClr val="2563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4"/>
            <p:cNvSpPr/>
            <p:nvPr/>
          </p:nvSpPr>
          <p:spPr>
            <a:xfrm>
              <a:off x="182216" y="1375876"/>
              <a:ext cx="2651760" cy="4571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b="1"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APPROACH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6a231c308_2_0"/>
          <p:cNvSpPr/>
          <p:nvPr/>
        </p:nvSpPr>
        <p:spPr>
          <a:xfrm>
            <a:off x="0" y="4846320"/>
            <a:ext cx="9144000" cy="91500"/>
          </a:xfrm>
          <a:prstGeom prst="rect">
            <a:avLst/>
          </a:prstGeom>
          <a:solidFill>
            <a:srgbClr val="3B82C4"/>
          </a:solidFill>
          <a:ln cap="flat" cmpd="sng" w="12700">
            <a:solidFill>
              <a:srgbClr val="3B8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e6a231c308_2_0"/>
          <p:cNvSpPr/>
          <p:nvPr/>
        </p:nvSpPr>
        <p:spPr>
          <a:xfrm>
            <a:off x="417912" y="183905"/>
            <a:ext cx="8503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Task 1: Pause/Unpause MCAT Automation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g3e6a231c308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03300"/>
            <a:ext cx="3577450" cy="2279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e6a231c308_2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9850" y="903300"/>
            <a:ext cx="2794651" cy="223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3e6a231c308_2_0"/>
          <p:cNvPicPr preferRelativeResize="0"/>
          <p:nvPr/>
        </p:nvPicPr>
        <p:blipFill rotWithShape="1">
          <a:blip r:embed="rId5">
            <a:alphaModFix/>
          </a:blip>
          <a:srcRect b="-20992" l="0" r="-20992" t="0"/>
          <a:stretch/>
        </p:blipFill>
        <p:spPr>
          <a:xfrm>
            <a:off x="6509350" y="1107125"/>
            <a:ext cx="3277900" cy="175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e6a231c308_2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11698" y="3294250"/>
            <a:ext cx="2708659" cy="144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e6a231c308_2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4475" y="3307325"/>
            <a:ext cx="2829299" cy="141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"/>
          <p:cNvSpPr/>
          <p:nvPr/>
        </p:nvSpPr>
        <p:spPr>
          <a:xfrm>
            <a:off x="438912" y="326571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Task 2: Interactive KPI Dashboard/ All tasks in this one. Hygiene report to be fed here.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 / 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347472" y="960120"/>
            <a:ext cx="4709160" cy="384048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347472" y="960120"/>
            <a:ext cx="4709160" cy="320040"/>
          </a:xfrm>
          <a:prstGeom prst="rect">
            <a:avLst/>
          </a:prstGeom>
          <a:solidFill>
            <a:srgbClr val="1C2F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438912" y="987552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  KPI Dashboard  (Prototype)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457200" y="1353312"/>
            <a:ext cx="141732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457200" y="1389888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55A0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055A0"/>
                </a:solidFill>
                <a:latin typeface="Calibri"/>
                <a:ea typeface="Calibri"/>
                <a:cs typeface="Calibri"/>
                <a:sym typeface="Calibri"/>
              </a:rPr>
              <a:t>₹18.4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457200" y="1719072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Cost/Txn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1993392" y="1353312"/>
            <a:ext cx="141732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1993392" y="1389888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82%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1993392" y="1719072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BL Approved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3529584" y="1353312"/>
            <a:ext cx="141732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3529584" y="1389888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1A2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CC1A2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3529584" y="1719072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Overspend MCATs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457200" y="2148840"/>
            <a:ext cx="4480560" cy="13716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3" name="Google Shape;193;p5"/>
          <p:cNvGraphicFramePr/>
          <p:nvPr/>
        </p:nvGraphicFramePr>
        <p:xfrm>
          <a:off x="457200" y="2148840"/>
          <a:ext cx="4480560" cy="137160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194" name="Google Shape;194;p5"/>
          <p:cNvGraphicFramePr/>
          <p:nvPr/>
        </p:nvGraphicFramePr>
        <p:xfrm>
          <a:off x="457200" y="3611880"/>
          <a:ext cx="2194560" cy="114300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95" name="Google Shape;195;p5"/>
          <p:cNvSpPr/>
          <p:nvPr/>
        </p:nvSpPr>
        <p:spPr>
          <a:xfrm>
            <a:off x="2724912" y="3611880"/>
            <a:ext cx="224028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2788920" y="3639312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Top Paused MCATs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2788920" y="3913632"/>
            <a:ext cx="73152" cy="182880"/>
          </a:xfrm>
          <a:prstGeom prst="rect">
            <a:avLst/>
          </a:prstGeom>
          <a:solidFill>
            <a:srgbClr val="CC1A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2926080" y="3895344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Cotton Drawstring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4343400" y="3895344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1A2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C1A2B"/>
                </a:solidFill>
                <a:latin typeface="Calibri"/>
                <a:ea typeface="Calibri"/>
                <a:cs typeface="Calibri"/>
                <a:sym typeface="Calibri"/>
              </a:rPr>
              <a:t>8 days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2788920" y="4169664"/>
            <a:ext cx="73152" cy="182880"/>
          </a:xfrm>
          <a:prstGeom prst="rect">
            <a:avLst/>
          </a:prstGeom>
          <a:solidFill>
            <a:srgbClr val="CC1A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2926080" y="4151376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Industrial Bolts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4343400" y="4151376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1A2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C1A2B"/>
                </a:solidFill>
                <a:latin typeface="Calibri"/>
                <a:ea typeface="Calibri"/>
                <a:cs typeface="Calibri"/>
                <a:sym typeface="Calibri"/>
              </a:rPr>
              <a:t>5 days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2788920" y="4425696"/>
            <a:ext cx="73152" cy="182880"/>
          </a:xfrm>
          <a:prstGeom prst="rect">
            <a:avLst/>
          </a:prstGeom>
          <a:solidFill>
            <a:srgbClr val="CC1A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2926080" y="440740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LED Panels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4343400" y="4407408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1A2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C1A2B"/>
                </a:solidFill>
                <a:latin typeface="Calibri"/>
                <a:ea typeface="Calibri"/>
                <a:cs typeface="Calibri"/>
                <a:sym typeface="Calibri"/>
              </a:rPr>
              <a:t>4 days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5212080" y="960120"/>
            <a:ext cx="3584448" cy="64008"/>
          </a:xfrm>
          <a:prstGeom prst="rect">
            <a:avLst/>
          </a:prstGeom>
          <a:solidFill>
            <a:srgbClr val="0D9B8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5349240" y="1051560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Dashboard Roadmap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5321808" y="1417320"/>
            <a:ext cx="109728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5486400" y="1417320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Phase 1 — Done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0" name="Google Shape;21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13248" y="173736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5"/>
          <p:cNvSpPr/>
          <p:nvPr/>
        </p:nvSpPr>
        <p:spPr>
          <a:xfrm>
            <a:off x="5650992" y="1709928"/>
            <a:ext cx="30175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Product Ads monthly data loaded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2" name="Google Shape;21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13248" y="1993392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5"/>
          <p:cNvSpPr/>
          <p:nvPr/>
        </p:nvSpPr>
        <p:spPr>
          <a:xfrm>
            <a:off x="5650992" y="1965960"/>
            <a:ext cx="30175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KPI metric tiles designed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4" name="Google Shape;21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13248" y="224942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5"/>
          <p:cNvSpPr/>
          <p:nvPr/>
        </p:nvSpPr>
        <p:spPr>
          <a:xfrm>
            <a:off x="5650992" y="2221992"/>
            <a:ext cx="30175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Cost/Txn bar chart live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5321808" y="2606040"/>
            <a:ext cx="109728" cy="228600"/>
          </a:xfrm>
          <a:prstGeom prst="rect">
            <a:avLst/>
          </a:prstGeom>
          <a:solidFill>
            <a:srgbClr val="E86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5486400" y="2606040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Phase 2 — Done</a:t>
            </a:r>
          </a:p>
        </p:txBody>
      </p:sp>
      <p:pic>
        <p:nvPicPr>
          <p:cNvPr descr="preencoded.png" id="218" name="Google Shape;21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13248" y="292608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5"/>
          <p:cNvSpPr/>
          <p:nvPr/>
        </p:nvSpPr>
        <p:spPr>
          <a:xfrm>
            <a:off x="5650992" y="2898648"/>
            <a:ext cx="30175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Paused/Unpaused BL Insights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0" name="Google Shape;22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13248" y="3182112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5"/>
          <p:cNvSpPr/>
          <p:nvPr/>
        </p:nvSpPr>
        <p:spPr>
          <a:xfrm>
            <a:off x="5650992" y="3154680"/>
            <a:ext cx="30175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Automated daily data refresh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2" name="Google Shape;22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13248" y="343814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5"/>
          <p:cNvSpPr/>
          <p:nvPr/>
        </p:nvSpPr>
        <p:spPr>
          <a:xfrm>
            <a:off x="5650992" y="3410712"/>
            <a:ext cx="30175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Campaign Wise Daily, Weekly &amp; Monthly Integration</a:t>
            </a:r>
          </a:p>
        </p:txBody>
      </p:sp>
      <p:sp>
        <p:nvSpPr>
          <p:cNvPr id="224" name="Google Shape;224;p5"/>
          <p:cNvSpPr/>
          <p:nvPr/>
        </p:nvSpPr>
        <p:spPr>
          <a:xfrm>
            <a:off x="5321808" y="3794760"/>
            <a:ext cx="109728" cy="228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5486400" y="3794760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Phase 3 — Done</a:t>
            </a:r>
          </a:p>
        </p:txBody>
      </p:sp>
      <p:pic>
        <p:nvPicPr>
          <p:cNvPr descr="preencoded.png" id="226" name="Google Shape;226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13248" y="411480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5"/>
          <p:cNvSpPr/>
          <p:nvPr/>
        </p:nvSpPr>
        <p:spPr>
          <a:xfrm>
            <a:off x="5650992" y="4087368"/>
            <a:ext cx="30175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Live DB feed via Redshift (Prod/Dev pools)</a:t>
            </a:r>
          </a:p>
        </p:txBody>
      </p:sp>
      <p:sp>
        <p:nvSpPr>
          <p:cNvPr id="228" name="Google Shape;228;p5"/>
          <p:cNvSpPr txBox="1"/>
          <p:nvPr/>
        </p:nvSpPr>
        <p:spPr>
          <a:xfrm>
            <a:off x="5257800" y="4379976"/>
            <a:ext cx="3886200" cy="6519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Product Ads Dashboard — Monthly Report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"/>
          <p:cNvSpPr/>
          <p:nvPr/>
        </p:nvSpPr>
        <p:spPr>
          <a:xfrm>
            <a:off x="502920" y="25603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Task 3: Daily KPI Tracker — B&amp;C Ads Campaign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 / 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338328" y="973184"/>
            <a:ext cx="4142232" cy="281700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347472" y="987552"/>
            <a:ext cx="4160520" cy="365760"/>
          </a:xfrm>
          <a:prstGeom prst="rect">
            <a:avLst/>
          </a:prstGeom>
          <a:solidFill>
            <a:srgbClr val="CC1A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484632" y="10058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BEFORE  (Manual)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8" name="Google Shape;2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" y="149047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6"/>
          <p:cNvSpPr/>
          <p:nvPr/>
        </p:nvSpPr>
        <p:spPr>
          <a:xfrm>
            <a:off x="822960" y="1463040"/>
            <a:ext cx="3520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Weekly copy-paste of prior week's values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0" name="Google Shape;24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" y="202082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6"/>
          <p:cNvSpPr/>
          <p:nvPr/>
        </p:nvSpPr>
        <p:spPr>
          <a:xfrm>
            <a:off x="822960" y="1993392"/>
            <a:ext cx="3520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New column with formulas added manually each week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2" name="Google Shape;24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" y="255117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6"/>
          <p:cNvSpPr/>
          <p:nvPr/>
        </p:nvSpPr>
        <p:spPr>
          <a:xfrm>
            <a:off x="822960" y="2523744"/>
            <a:ext cx="3520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DBeaver access not provisioned → blocked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4" name="Google Shape;24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" y="308152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6"/>
          <p:cNvSpPr/>
          <p:nvPr/>
        </p:nvSpPr>
        <p:spPr>
          <a:xfrm>
            <a:off x="822960" y="3054096"/>
            <a:ext cx="3520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Google Ads data restricted access to run scripts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4645152" y="987553"/>
            <a:ext cx="4160520" cy="280263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4645152" y="987552"/>
            <a:ext cx="416052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4782312" y="10058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AFTER  (Automated)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9" name="Google Shape;24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8032" y="149047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6"/>
          <p:cNvSpPr/>
          <p:nvPr/>
        </p:nvSpPr>
        <p:spPr>
          <a:xfrm>
            <a:off x="5120640" y="1463040"/>
            <a:ext cx="3520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App Script auto-appends column on schedule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1" name="Google Shape;25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8032" y="202082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6"/>
          <p:cNvSpPr/>
          <p:nvPr/>
        </p:nvSpPr>
        <p:spPr>
          <a:xfrm>
            <a:off x="5120640" y="1993392"/>
            <a:ext cx="3520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Values copied programmatically — no manual step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3" name="Google Shape;25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8032" y="255117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6"/>
          <p:cNvSpPr/>
          <p:nvPr/>
        </p:nvSpPr>
        <p:spPr>
          <a:xfrm>
            <a:off x="5120640" y="2523744"/>
            <a:ext cx="3520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DBeaver credentials obtained from Kishalay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5" name="Google Shape;25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8032" y="308152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6"/>
          <p:cNvSpPr/>
          <p:nvPr/>
        </p:nvSpPr>
        <p:spPr>
          <a:xfrm>
            <a:off x="5120640" y="3054096"/>
            <a:ext cx="3520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Ads data fed from Vishal's live sheet (real-time)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6"/>
          <p:cNvCxnSpPr/>
          <p:nvPr/>
        </p:nvCxnSpPr>
        <p:spPr>
          <a:xfrm>
            <a:off x="4251960" y="2423160"/>
            <a:ext cx="640080" cy="640080"/>
          </a:xfrm>
          <a:prstGeom prst="straightConnector1">
            <a:avLst/>
          </a:prstGeom>
          <a:solidFill>
            <a:srgbClr val="1C2F6B"/>
          </a:solidFill>
          <a:ln>
            <a:noFill/>
          </a:ln>
        </p:spPr>
      </p:cxnSp>
      <p:sp>
        <p:nvSpPr>
          <p:cNvPr id="258" name="Google Shape;258;p6"/>
          <p:cNvSpPr/>
          <p:nvPr/>
        </p:nvSpPr>
        <p:spPr>
          <a:xfrm>
            <a:off x="4251960" y="24231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278892" y="4078226"/>
            <a:ext cx="8458200" cy="80924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0" name="Google Shape;26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9768" y="417423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6"/>
          <p:cNvSpPr/>
          <p:nvPr/>
        </p:nvSpPr>
        <p:spPr>
          <a:xfrm>
            <a:off x="914400" y="4315968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11125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</a:pPr>
            <a:r>
              <a:t/>
            </a:r>
            <a:endParaRPr i="1" sz="950">
              <a:solidFill>
                <a:srgbClr val="E86A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50">
                <a:solidFill>
                  <a:srgbClr val="E86A2A"/>
                </a:solidFill>
                <a:latin typeface="Calibri"/>
                <a:ea typeface="Calibri"/>
                <a:cs typeface="Calibri"/>
                <a:sym typeface="Calibri"/>
              </a:rPr>
              <a:t>In Progress: </a:t>
            </a:r>
            <a:r>
              <a:rPr lang="en-US" sz="1000" u="sng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Daily Tracker - Google Sheets</a:t>
            </a:r>
            <a:endParaRPr i="1" sz="95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</a:pPr>
            <a:r>
              <a:t/>
            </a:r>
            <a:endParaRPr i="1" sz="950">
              <a:solidFill>
                <a:srgbClr val="E86A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E86A2A"/>
              </a:buClr>
              <a:buSzPts val="950"/>
              <a:buFont typeface="Arial"/>
              <a:buChar char="•"/>
            </a:pPr>
            <a:r>
              <a:rPr i="1" lang="en-US" sz="950">
                <a:solidFill>
                  <a:srgbClr val="E86A2A"/>
                </a:solidFill>
                <a:latin typeface="Calibri"/>
                <a:ea typeface="Calibri"/>
                <a:cs typeface="Calibri"/>
                <a:sym typeface="Calibri"/>
              </a:rPr>
              <a:t>PostgreSQL connection intermittently dropping — investigation to be done with Kishalay.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E86A2A"/>
              </a:buClr>
              <a:buSzPts val="950"/>
              <a:buFont typeface="Arial"/>
              <a:buChar char="•"/>
            </a:pPr>
            <a:r>
              <a:rPr i="1" lang="en-US" sz="950">
                <a:solidFill>
                  <a:srgbClr val="E86A2A"/>
                </a:solidFill>
                <a:latin typeface="Calibri"/>
                <a:ea typeface="Calibri"/>
                <a:cs typeface="Calibri"/>
                <a:sym typeface="Calibri"/>
              </a:rPr>
              <a:t>Extend to other campaigns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E86A2A"/>
              </a:buClr>
              <a:buSzPts val="950"/>
              <a:buFont typeface="Arial"/>
              <a:buChar char="•"/>
            </a:pPr>
            <a:r>
              <a:rPr i="1" lang="en-US" sz="950">
                <a:solidFill>
                  <a:srgbClr val="E86A2A"/>
                </a:solidFill>
                <a:latin typeface="Calibri"/>
                <a:ea typeface="Calibri"/>
                <a:cs typeface="Calibri"/>
                <a:sym typeface="Calibri"/>
              </a:rPr>
              <a:t>Diagnose the NaN values being sent over email</a:t>
            </a:r>
            <a:endParaRPr/>
          </a:p>
          <a:p>
            <a:pPr indent="-111125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7"/>
          <p:cNvSpPr/>
          <p:nvPr/>
        </p:nvSpPr>
        <p:spPr>
          <a:xfrm>
            <a:off x="502920" y="25603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Task 3: Daily KPI Tracker — B&amp;C Ads Campaign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278892" y="4078226"/>
            <a:ext cx="8458200" cy="80924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958" y="901564"/>
            <a:ext cx="3543224" cy="3129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1904" y="901564"/>
            <a:ext cx="2397759" cy="32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"/>
          <p:cNvSpPr/>
          <p:nvPr/>
        </p:nvSpPr>
        <p:spPr>
          <a:xfrm>
            <a:off x="347472" y="274320"/>
            <a:ext cx="64008" cy="685800"/>
          </a:xfrm>
          <a:prstGeom prst="rect">
            <a:avLst/>
          </a:prstGeom>
          <a:solidFill>
            <a:srgbClr val="CC1A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502920" y="25603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Task 4: Automating Active MCAT Data Fetch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502920" y="585216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Building a live SQL pipeline to replace manual Mesh lookups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/ 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5285232" y="960120"/>
            <a:ext cx="3520440" cy="1600200"/>
          </a:xfrm>
          <a:prstGeom prst="rect">
            <a:avLst/>
          </a:prstGeom>
          <a:solidFill>
            <a:srgbClr val="F7F9F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5285232" y="960120"/>
            <a:ext cx="3520440" cy="64008"/>
          </a:xfrm>
          <a:prstGeom prst="rect">
            <a:avLst/>
          </a:prstGeom>
          <a:solidFill>
            <a:srgbClr val="0D9B8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5422392" y="105156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Tables Joined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1" name="Google Shape;28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6672" y="13716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8"/>
          <p:cNvSpPr/>
          <p:nvPr/>
        </p:nvSpPr>
        <p:spPr>
          <a:xfrm>
            <a:off x="5623560" y="1353312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glcat_mcat_addn_attributes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3" name="Google Shape;28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6672" y="166420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8"/>
          <p:cNvSpPr/>
          <p:nvPr/>
        </p:nvSpPr>
        <p:spPr>
          <a:xfrm>
            <a:off x="5623560" y="1645920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iil_google_ads_lable_master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5" name="Google Shape;28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6672" y="195681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8"/>
          <p:cNvSpPr/>
          <p:nvPr/>
        </p:nvSpPr>
        <p:spPr>
          <a:xfrm>
            <a:off x="5623560" y="1938528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dim_glcat_mcat (dim)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7" name="Google Shape;28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6672" y="224942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8"/>
          <p:cNvSpPr/>
          <p:nvPr/>
        </p:nvSpPr>
        <p:spPr>
          <a:xfrm>
            <a:off x="5623560" y="2231136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fact_iil_google_ads_eligibility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5285232" y="2670048"/>
            <a:ext cx="109728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5285232" y="2670048"/>
            <a:ext cx="1097280" cy="54864"/>
          </a:xfrm>
          <a:prstGeom prst="rect">
            <a:avLst/>
          </a:prstGeom>
          <a:solidFill>
            <a:srgbClr val="1055A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5330952" y="274320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55A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055A0"/>
                </a:solidFill>
                <a:latin typeface="Calibri"/>
                <a:ea typeface="Calibri"/>
                <a:cs typeface="Calibri"/>
                <a:sym typeface="Calibri"/>
              </a:rPr>
              <a:t>13,351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5330952" y="318211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Records fetched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6473952" y="2670048"/>
            <a:ext cx="109728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6473952" y="2670048"/>
            <a:ext cx="1097280" cy="54864"/>
          </a:xfrm>
          <a:prstGeom prst="rect">
            <a:avLst/>
          </a:prstGeom>
          <a:solidFill>
            <a:srgbClr val="E86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6519672" y="274320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A2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E86A2A"/>
                </a:solidFill>
                <a:latin typeface="Calibri"/>
                <a:ea typeface="Calibri"/>
                <a:cs typeface="Calibri"/>
                <a:sym typeface="Calibri"/>
              </a:rPr>
              <a:t>~19K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6519672" y="318211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Expected (Mesh)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7662672" y="2670048"/>
            <a:ext cx="109728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7662672" y="2670048"/>
            <a:ext cx="1097280" cy="54864"/>
          </a:xfrm>
          <a:prstGeom prst="rect">
            <a:avLst/>
          </a:prstGeom>
          <a:solidFill>
            <a:srgbClr val="0D9B8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7708392" y="274320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B8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D9B8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7708392" y="318211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Fields retrieved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5285232" y="3749040"/>
            <a:ext cx="3520440" cy="685800"/>
          </a:xfrm>
          <a:prstGeom prst="rect">
            <a:avLst/>
          </a:prstGeom>
          <a:solidFill>
            <a:srgbClr val="FEF2F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5285232" y="3749040"/>
            <a:ext cx="64008" cy="685800"/>
          </a:xfrm>
          <a:prstGeom prst="rect">
            <a:avLst/>
          </a:prstGeom>
          <a:solidFill>
            <a:srgbClr val="CC1A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5422392" y="3776472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1A2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CC1A2B"/>
                </a:solidFill>
                <a:latin typeface="Calibri"/>
                <a:ea typeface="Calibri"/>
                <a:cs typeface="Calibri"/>
                <a:sym typeface="Calibri"/>
              </a:rPr>
              <a:t>⚠  Gap: 13,351 vs ~19K records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5422392" y="404164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Investigating eligibility filter logic + BL_Approved join condition.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" name="Google Shape;30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328" y="1103375"/>
            <a:ext cx="4855464" cy="2861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/>
          <p:nvPr/>
        </p:nvSpPr>
        <p:spPr>
          <a:xfrm>
            <a:off x="502920" y="25603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Task 5: Product Label Mismatch Detection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 / 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347472" y="1005840"/>
            <a:ext cx="434340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347472" y="1005840"/>
            <a:ext cx="64008" cy="749808"/>
          </a:xfrm>
          <a:prstGeom prst="rect">
            <a:avLst/>
          </a:prstGeom>
          <a:solidFill>
            <a:srgbClr val="1055A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" name="Google Shape;314;p9"/>
          <p:cNvCxnSpPr/>
          <p:nvPr/>
        </p:nvCxnSpPr>
        <p:spPr>
          <a:xfrm>
            <a:off x="502920" y="1170432"/>
            <a:ext cx="411480" cy="411480"/>
          </a:xfrm>
          <a:prstGeom prst="straightConnector1">
            <a:avLst/>
          </a:prstGeom>
          <a:solidFill>
            <a:srgbClr val="1055A0"/>
          </a:solidFill>
          <a:ln>
            <a:noFill/>
          </a:ln>
        </p:spPr>
      </p:cxnSp>
      <p:sp>
        <p:nvSpPr>
          <p:cNvPr id="315" name="Google Shape;315;p9"/>
          <p:cNvSpPr/>
          <p:nvPr/>
        </p:nvSpPr>
        <p:spPr>
          <a:xfrm>
            <a:off x="502920" y="117043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1005840" y="10515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Google Ads Report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1005840" y="1353312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Product-level Custom Label 3 data downloaded from Google Ads console.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713232" y="1755648"/>
            <a:ext cx="36576" cy="21031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347472" y="1965960"/>
            <a:ext cx="434340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347472" y="1965960"/>
            <a:ext cx="64008" cy="749808"/>
          </a:xfrm>
          <a:prstGeom prst="rect">
            <a:avLst/>
          </a:prstGeom>
          <a:solidFill>
            <a:srgbClr val="0D9B8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1" name="Google Shape;321;p9"/>
          <p:cNvCxnSpPr/>
          <p:nvPr/>
        </p:nvCxnSpPr>
        <p:spPr>
          <a:xfrm>
            <a:off x="502920" y="2130552"/>
            <a:ext cx="411480" cy="411480"/>
          </a:xfrm>
          <a:prstGeom prst="straightConnector1">
            <a:avLst/>
          </a:prstGeom>
          <a:solidFill>
            <a:srgbClr val="0D9B8A"/>
          </a:solidFill>
          <a:ln>
            <a:noFill/>
          </a:ln>
        </p:spPr>
      </p:cxnSp>
      <p:sp>
        <p:nvSpPr>
          <p:cNvPr id="322" name="Google Shape;322;p9"/>
          <p:cNvSpPr/>
          <p:nvPr/>
        </p:nvSpPr>
        <p:spPr>
          <a:xfrm>
            <a:off x="502920" y="213055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1005840" y="20116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MCAT Label Mapping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1005840" y="2313432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Weekly MCAT-wise Custom Label 3 map (sourced from Nikhita) cross-joined.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713232" y="2715768"/>
            <a:ext cx="36576" cy="21031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347472" y="2926080"/>
            <a:ext cx="434340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347472" y="2926080"/>
            <a:ext cx="64008" cy="749808"/>
          </a:xfrm>
          <a:prstGeom prst="rect">
            <a:avLst/>
          </a:prstGeom>
          <a:solidFill>
            <a:srgbClr val="E86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8" name="Google Shape;328;p9"/>
          <p:cNvCxnSpPr/>
          <p:nvPr/>
        </p:nvCxnSpPr>
        <p:spPr>
          <a:xfrm>
            <a:off x="502920" y="3090672"/>
            <a:ext cx="411480" cy="411480"/>
          </a:xfrm>
          <a:prstGeom prst="straightConnector1">
            <a:avLst/>
          </a:prstGeom>
          <a:solidFill>
            <a:srgbClr val="E86A2A"/>
          </a:solidFill>
          <a:ln>
            <a:noFill/>
          </a:ln>
        </p:spPr>
      </p:cxnSp>
      <p:sp>
        <p:nvSpPr>
          <p:cNvPr id="329" name="Google Shape;329;p9"/>
          <p:cNvSpPr/>
          <p:nvPr/>
        </p:nvSpPr>
        <p:spPr>
          <a:xfrm>
            <a:off x="502920" y="309067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1005840" y="297180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Mismatch Detection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1005840" y="3273552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Products with label ≠ expected label for Product Type 4 identified.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713232" y="3675888"/>
            <a:ext cx="36576" cy="21031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347472" y="3886200"/>
            <a:ext cx="434340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347472" y="3886200"/>
            <a:ext cx="64008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5" name="Google Shape;335;p9"/>
          <p:cNvCxnSpPr/>
          <p:nvPr/>
        </p:nvCxnSpPr>
        <p:spPr>
          <a:xfrm>
            <a:off x="502920" y="4050792"/>
            <a:ext cx="411480" cy="411480"/>
          </a:xfrm>
          <a:prstGeom prst="straightConnector1">
            <a:avLst/>
          </a:prstGeom>
          <a:solidFill>
            <a:srgbClr val="059669"/>
          </a:solidFill>
          <a:ln>
            <a:noFill/>
          </a:ln>
        </p:spPr>
      </p:cxnSp>
      <p:sp>
        <p:nvSpPr>
          <p:cNvPr id="336" name="Google Shape;336;p9"/>
          <p:cNvSpPr/>
          <p:nvPr/>
        </p:nvSpPr>
        <p:spPr>
          <a:xfrm>
            <a:off x="502920" y="405079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1005840" y="393192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Actionable List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1005840" y="4233672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Full list of mismatched products exported — ready for correction.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4892040" y="960120"/>
            <a:ext cx="3931920" cy="2148840"/>
          </a:xfrm>
          <a:prstGeom prst="rect">
            <a:avLst/>
          </a:prstGeom>
          <a:solidFill>
            <a:srgbClr val="F7F9F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4892040" y="960120"/>
            <a:ext cx="393192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5029200" y="1069848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  Status — Manual Phase Complete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2" name="Google Shape;34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1417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9"/>
          <p:cNvSpPr/>
          <p:nvPr/>
        </p:nvSpPr>
        <p:spPr>
          <a:xfrm>
            <a:off x="5285232" y="1399032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Downloaded product report from Google Ads console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4" name="Google Shape;34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17647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9"/>
          <p:cNvSpPr/>
          <p:nvPr/>
        </p:nvSpPr>
        <p:spPr>
          <a:xfrm>
            <a:off x="5285232" y="1746504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Matched MCAT IDs with weekly Custom Label 3 snapshot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6" name="Google Shape;3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211226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9"/>
          <p:cNvSpPr/>
          <p:nvPr/>
        </p:nvSpPr>
        <p:spPr>
          <a:xfrm>
            <a:off x="5285232" y="2093976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Identified all Product Type 4 label mismatches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8" name="Google Shape;34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245973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9"/>
          <p:cNvSpPr/>
          <p:nvPr/>
        </p:nvSpPr>
        <p:spPr>
          <a:xfrm>
            <a:off x="5285232" y="244144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Delivered actionable list to the ads team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4892040" y="3200400"/>
            <a:ext cx="3931920" cy="1508760"/>
          </a:xfrm>
          <a:prstGeom prst="rect">
            <a:avLst/>
          </a:prstGeom>
          <a:solidFill>
            <a:srgbClr val="FFF7ED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4892040" y="3200400"/>
            <a:ext cx="3931920" cy="64008"/>
          </a:xfrm>
          <a:prstGeom prst="rect">
            <a:avLst/>
          </a:prstGeom>
          <a:solidFill>
            <a:srgbClr val="E86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5029200" y="3310128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A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E86A2A"/>
                </a:solidFill>
                <a:latin typeface="Calibri"/>
                <a:ea typeface="Calibri"/>
                <a:cs typeface="Calibri"/>
                <a:sym typeface="Calibri"/>
              </a:rPr>
              <a:t>⚡  Next: Full Automation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5029200" y="3639312"/>
            <a:ext cx="3611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Live MCAT-wise Custom Label 3 feed needs to be automated — replacing the weekly manual download with a direct API or DB pull to enable continuous mismatch monitoring.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0"/>
          <p:cNvSpPr/>
          <p:nvPr/>
        </p:nvSpPr>
        <p:spPr>
          <a:xfrm>
            <a:off x="502920" y="25603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Task 5: Product Label Mismatch Detection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9" name="Google Shape;35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302" y="1111068"/>
            <a:ext cx="5731510" cy="3182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1"/>
          <p:cNvSpPr/>
          <p:nvPr/>
        </p:nvSpPr>
        <p:spPr>
          <a:xfrm>
            <a:off x="393192" y="158061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Key Learnings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0" y="4846320"/>
            <a:ext cx="9144000" cy="91440"/>
          </a:xfrm>
          <a:prstGeom prst="rect">
            <a:avLst/>
          </a:prstGeom>
          <a:solidFill>
            <a:srgbClr val="3B82C4"/>
          </a:solidFill>
          <a:ln cap="flat" cmpd="sng" w="12700">
            <a:solidFill>
              <a:srgbClr val="3B8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IndiaMART | Product Management Internship | April 2026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7" name="Google Shape;367;p11"/>
          <p:cNvGrpSpPr/>
          <p:nvPr/>
        </p:nvGrpSpPr>
        <p:grpSpPr>
          <a:xfrm>
            <a:off x="320040" y="948364"/>
            <a:ext cx="8503920" cy="3657600"/>
            <a:chOff x="320040" y="804672"/>
            <a:chExt cx="8503920" cy="3657600"/>
          </a:xfrm>
        </p:grpSpPr>
        <p:sp>
          <p:nvSpPr>
            <p:cNvPr id="368" name="Google Shape;368;p11"/>
            <p:cNvSpPr/>
            <p:nvPr/>
          </p:nvSpPr>
          <p:spPr>
            <a:xfrm>
              <a:off x="320040" y="804672"/>
              <a:ext cx="8503920" cy="65836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11"/>
            <p:cNvSpPr/>
            <p:nvPr/>
          </p:nvSpPr>
          <p:spPr>
            <a:xfrm>
              <a:off x="320040" y="804672"/>
              <a:ext cx="73152" cy="658368"/>
            </a:xfrm>
            <a:prstGeom prst="rect">
              <a:avLst/>
            </a:prstGeom>
            <a:solidFill>
              <a:srgbClr val="3B82C4"/>
            </a:solidFill>
            <a:ln cap="flat" cmpd="sng" w="12700">
              <a:solidFill>
                <a:srgbClr val="3B82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11"/>
            <p:cNvSpPr/>
            <p:nvPr/>
          </p:nvSpPr>
          <p:spPr>
            <a:xfrm>
              <a:off x="502920" y="804672"/>
              <a:ext cx="457200" cy="658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2E8F0"/>
                </a:buClr>
                <a:buSzPts val="1800"/>
                <a:buFont typeface="Calibri"/>
                <a:buNone/>
              </a:pPr>
              <a:r>
                <a:rPr b="1" lang="en-US" sz="1800">
                  <a:solidFill>
                    <a:srgbClr val="E2E8F0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11"/>
            <p:cNvSpPr/>
            <p:nvPr/>
          </p:nvSpPr>
          <p:spPr>
            <a:xfrm>
              <a:off x="1051560" y="896112"/>
              <a:ext cx="2286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A6B"/>
                </a:buClr>
                <a:buSzPts val="1100"/>
                <a:buFont typeface="Calibri"/>
                <a:buNone/>
              </a:pPr>
              <a:r>
                <a:rPr b="1" lang="en-US" sz="1100">
                  <a:solidFill>
                    <a:srgbClr val="1B3A6B"/>
                  </a:solidFill>
                  <a:latin typeface="Calibri"/>
                  <a:ea typeface="Calibri"/>
                  <a:cs typeface="Calibri"/>
                  <a:sym typeface="Calibri"/>
                </a:rPr>
                <a:t>Data → Actionable Insights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1"/>
            <p:cNvSpPr/>
            <p:nvPr/>
          </p:nvSpPr>
          <p:spPr>
            <a:xfrm>
              <a:off x="3429000" y="877824"/>
              <a:ext cx="5257800" cy="502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B3C"/>
                </a:buClr>
                <a:buSzPts val="1000"/>
                <a:buFont typeface="Calibri"/>
                <a:buNone/>
              </a:pPr>
              <a:r>
                <a:rPr lang="en-US" sz="1000">
                  <a:solidFill>
                    <a:srgbClr val="1E2B3C"/>
                  </a:solidFill>
                  <a:latin typeface="Calibri"/>
                  <a:ea typeface="Calibri"/>
                  <a:cs typeface="Calibri"/>
                  <a:sym typeface="Calibri"/>
                </a:rPr>
                <a:t>Learned to translate messy, real-world ad data into structured metrics that drive product decisions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73" name="Google Shape;373;p11"/>
            <p:cNvCxnSpPr/>
            <p:nvPr/>
          </p:nvCxnSpPr>
          <p:spPr>
            <a:xfrm>
              <a:off x="3337560" y="914400"/>
              <a:ext cx="0" cy="438912"/>
            </a:xfrm>
            <a:prstGeom prst="straightConnector1">
              <a:avLst/>
            </a:prstGeom>
            <a:noFill/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74" name="Google Shape;374;p11"/>
            <p:cNvSpPr/>
            <p:nvPr/>
          </p:nvSpPr>
          <p:spPr>
            <a:xfrm>
              <a:off x="320040" y="1554480"/>
              <a:ext cx="8503920" cy="658368"/>
            </a:xfrm>
            <a:prstGeom prst="rect">
              <a:avLst/>
            </a:prstGeom>
            <a:solidFill>
              <a:srgbClr val="F0F4FA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11"/>
            <p:cNvSpPr/>
            <p:nvPr/>
          </p:nvSpPr>
          <p:spPr>
            <a:xfrm>
              <a:off x="320040" y="1554480"/>
              <a:ext cx="73152" cy="658368"/>
            </a:xfrm>
            <a:prstGeom prst="rect">
              <a:avLst/>
            </a:prstGeom>
            <a:solidFill>
              <a:srgbClr val="3B82C4"/>
            </a:solidFill>
            <a:ln cap="flat" cmpd="sng" w="12700">
              <a:solidFill>
                <a:srgbClr val="3B82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11"/>
            <p:cNvSpPr/>
            <p:nvPr/>
          </p:nvSpPr>
          <p:spPr>
            <a:xfrm>
              <a:off x="502920" y="1554480"/>
              <a:ext cx="457200" cy="658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2E8F0"/>
                </a:buClr>
                <a:buSzPts val="1800"/>
                <a:buFont typeface="Calibri"/>
                <a:buNone/>
              </a:pPr>
              <a:r>
                <a:rPr b="1" lang="en-US" sz="1800">
                  <a:solidFill>
                    <a:srgbClr val="E2E8F0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11"/>
            <p:cNvSpPr/>
            <p:nvPr/>
          </p:nvSpPr>
          <p:spPr>
            <a:xfrm>
              <a:off x="1051560" y="1645920"/>
              <a:ext cx="2286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A6B"/>
                </a:buClr>
                <a:buSzPts val="1100"/>
                <a:buFont typeface="Calibri"/>
                <a:buNone/>
              </a:pPr>
              <a:r>
                <a:rPr b="1" lang="en-US" sz="1100">
                  <a:solidFill>
                    <a:srgbClr val="1B3A6B"/>
                  </a:solidFill>
                  <a:latin typeface="Calibri"/>
                  <a:ea typeface="Calibri"/>
                  <a:cs typeface="Calibri"/>
                  <a:sym typeface="Calibri"/>
                </a:rPr>
                <a:t>Automation for Scale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11"/>
            <p:cNvSpPr/>
            <p:nvPr/>
          </p:nvSpPr>
          <p:spPr>
            <a:xfrm>
              <a:off x="3429000" y="1627632"/>
              <a:ext cx="5257800" cy="502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B3C"/>
                </a:buClr>
                <a:buSzPts val="1000"/>
                <a:buFont typeface="Calibri"/>
                <a:buNone/>
              </a:pPr>
              <a:r>
                <a:rPr lang="en-US" sz="1000">
                  <a:solidFill>
                    <a:srgbClr val="1E2B3C"/>
                  </a:solidFill>
                  <a:latin typeface="Calibri"/>
                  <a:ea typeface="Calibri"/>
                  <a:cs typeface="Calibri"/>
                  <a:sym typeface="Calibri"/>
                </a:rPr>
                <a:t>Manual reporting is unsustainable at scale; automation via n8n + Apps Script enables consistent, timely insights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79" name="Google Shape;379;p11"/>
            <p:cNvCxnSpPr/>
            <p:nvPr/>
          </p:nvCxnSpPr>
          <p:spPr>
            <a:xfrm>
              <a:off x="3337560" y="1664208"/>
              <a:ext cx="0" cy="438912"/>
            </a:xfrm>
            <a:prstGeom prst="straightConnector1">
              <a:avLst/>
            </a:prstGeom>
            <a:noFill/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80" name="Google Shape;380;p11"/>
            <p:cNvSpPr/>
            <p:nvPr/>
          </p:nvSpPr>
          <p:spPr>
            <a:xfrm>
              <a:off x="320040" y="2304288"/>
              <a:ext cx="8503920" cy="65836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11"/>
            <p:cNvSpPr/>
            <p:nvPr/>
          </p:nvSpPr>
          <p:spPr>
            <a:xfrm>
              <a:off x="320040" y="2304288"/>
              <a:ext cx="73152" cy="658368"/>
            </a:xfrm>
            <a:prstGeom prst="rect">
              <a:avLst/>
            </a:prstGeom>
            <a:solidFill>
              <a:srgbClr val="3B82C4"/>
            </a:solidFill>
            <a:ln cap="flat" cmpd="sng" w="12700">
              <a:solidFill>
                <a:srgbClr val="3B82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11"/>
            <p:cNvSpPr/>
            <p:nvPr/>
          </p:nvSpPr>
          <p:spPr>
            <a:xfrm>
              <a:off x="502920" y="2304288"/>
              <a:ext cx="457200" cy="658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2E8F0"/>
                </a:buClr>
                <a:buSzPts val="1800"/>
                <a:buFont typeface="Calibri"/>
                <a:buNone/>
              </a:pPr>
              <a:r>
                <a:rPr b="1" lang="en-US" sz="1800">
                  <a:solidFill>
                    <a:srgbClr val="E2E8F0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11"/>
            <p:cNvSpPr/>
            <p:nvPr/>
          </p:nvSpPr>
          <p:spPr>
            <a:xfrm>
              <a:off x="1051560" y="2395728"/>
              <a:ext cx="2286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A6B"/>
                </a:buClr>
                <a:buSzPts val="1100"/>
                <a:buFont typeface="Calibri"/>
                <a:buNone/>
              </a:pPr>
              <a:r>
                <a:rPr b="1" lang="en-US" sz="1100">
                  <a:solidFill>
                    <a:srgbClr val="1B3A6B"/>
                  </a:solidFill>
                  <a:latin typeface="Calibri"/>
                  <a:ea typeface="Calibri"/>
                  <a:cs typeface="Calibri"/>
                  <a:sym typeface="Calibri"/>
                </a:rPr>
                <a:t>SQL &amp; Ads Ecosystem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11"/>
            <p:cNvSpPr/>
            <p:nvPr/>
          </p:nvSpPr>
          <p:spPr>
            <a:xfrm>
              <a:off x="3429000" y="2377440"/>
              <a:ext cx="5257800" cy="502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B3C"/>
                </a:buClr>
                <a:buSzPts val="1000"/>
                <a:buFont typeface="Calibri"/>
                <a:buNone/>
              </a:pPr>
              <a:r>
                <a:rPr lang="en-US" sz="1000">
                  <a:solidFill>
                    <a:srgbClr val="1E2B3C"/>
                  </a:solidFill>
                  <a:latin typeface="Calibri"/>
                  <a:ea typeface="Calibri"/>
                  <a:cs typeface="Calibri"/>
                  <a:sym typeface="Calibri"/>
                </a:rPr>
                <a:t>Gained some understanding of Google Ads(Types of Ads, KPIs, rules) and SQL querying across complex data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85" name="Google Shape;385;p11"/>
            <p:cNvCxnSpPr/>
            <p:nvPr/>
          </p:nvCxnSpPr>
          <p:spPr>
            <a:xfrm>
              <a:off x="3337560" y="2414016"/>
              <a:ext cx="0" cy="438912"/>
            </a:xfrm>
            <a:prstGeom prst="straightConnector1">
              <a:avLst/>
            </a:prstGeom>
            <a:noFill/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86" name="Google Shape;386;p11"/>
            <p:cNvSpPr/>
            <p:nvPr/>
          </p:nvSpPr>
          <p:spPr>
            <a:xfrm>
              <a:off x="320040" y="3054096"/>
              <a:ext cx="8503920" cy="658368"/>
            </a:xfrm>
            <a:prstGeom prst="rect">
              <a:avLst/>
            </a:prstGeom>
            <a:solidFill>
              <a:srgbClr val="F0F4FA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11"/>
            <p:cNvSpPr/>
            <p:nvPr/>
          </p:nvSpPr>
          <p:spPr>
            <a:xfrm>
              <a:off x="320040" y="3054096"/>
              <a:ext cx="73152" cy="658368"/>
            </a:xfrm>
            <a:prstGeom prst="rect">
              <a:avLst/>
            </a:prstGeom>
            <a:solidFill>
              <a:srgbClr val="3B82C4"/>
            </a:solidFill>
            <a:ln cap="flat" cmpd="sng" w="12700">
              <a:solidFill>
                <a:srgbClr val="3B82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11"/>
            <p:cNvSpPr/>
            <p:nvPr/>
          </p:nvSpPr>
          <p:spPr>
            <a:xfrm>
              <a:off x="502920" y="3054096"/>
              <a:ext cx="457200" cy="658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2E8F0"/>
                </a:buClr>
                <a:buSzPts val="1800"/>
                <a:buFont typeface="Calibri"/>
                <a:buNone/>
              </a:pPr>
              <a:r>
                <a:rPr b="1" lang="en-US" sz="1800">
                  <a:solidFill>
                    <a:srgbClr val="E2E8F0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11"/>
            <p:cNvSpPr/>
            <p:nvPr/>
          </p:nvSpPr>
          <p:spPr>
            <a:xfrm>
              <a:off x="1051560" y="3145536"/>
              <a:ext cx="2286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A6B"/>
                </a:buClr>
                <a:buSzPts val="1100"/>
                <a:buFont typeface="Calibri"/>
                <a:buNone/>
              </a:pPr>
              <a:r>
                <a:rPr b="1" lang="en-US" sz="1100">
                  <a:solidFill>
                    <a:srgbClr val="1B3A6B"/>
                  </a:solidFill>
                  <a:latin typeface="Calibri"/>
                  <a:ea typeface="Calibri"/>
                  <a:cs typeface="Calibri"/>
                  <a:sym typeface="Calibri"/>
                </a:rPr>
                <a:t>Product Thinking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11"/>
            <p:cNvSpPr/>
            <p:nvPr/>
          </p:nvSpPr>
          <p:spPr>
            <a:xfrm>
              <a:off x="3429000" y="3127248"/>
              <a:ext cx="5257800" cy="502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B3C"/>
                </a:buClr>
                <a:buSzPts val="1000"/>
                <a:buFont typeface="Calibri"/>
                <a:buNone/>
              </a:pPr>
              <a:r>
                <a:rPr lang="en-US" sz="1000">
                  <a:solidFill>
                    <a:srgbClr val="1E2B3C"/>
                  </a:solidFill>
                  <a:latin typeface="Calibri"/>
                  <a:ea typeface="Calibri"/>
                  <a:cs typeface="Calibri"/>
                  <a:sym typeface="Calibri"/>
                </a:rPr>
                <a:t>Connecting individual KPIs (Cost/Txn, BL Approved) to build interactive dashboard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1" name="Google Shape;391;p11"/>
            <p:cNvCxnSpPr/>
            <p:nvPr/>
          </p:nvCxnSpPr>
          <p:spPr>
            <a:xfrm>
              <a:off x="3337560" y="3163824"/>
              <a:ext cx="0" cy="438912"/>
            </a:xfrm>
            <a:prstGeom prst="straightConnector1">
              <a:avLst/>
            </a:prstGeom>
            <a:noFill/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92" name="Google Shape;392;p11"/>
            <p:cNvSpPr/>
            <p:nvPr/>
          </p:nvSpPr>
          <p:spPr>
            <a:xfrm>
              <a:off x="320040" y="3803904"/>
              <a:ext cx="8503920" cy="65836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11"/>
            <p:cNvSpPr/>
            <p:nvPr/>
          </p:nvSpPr>
          <p:spPr>
            <a:xfrm>
              <a:off x="320040" y="3803904"/>
              <a:ext cx="73152" cy="658368"/>
            </a:xfrm>
            <a:prstGeom prst="rect">
              <a:avLst/>
            </a:prstGeom>
            <a:solidFill>
              <a:srgbClr val="3B82C4"/>
            </a:solidFill>
            <a:ln cap="flat" cmpd="sng" w="12700">
              <a:solidFill>
                <a:srgbClr val="3B82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11"/>
            <p:cNvSpPr/>
            <p:nvPr/>
          </p:nvSpPr>
          <p:spPr>
            <a:xfrm>
              <a:off x="502920" y="3803904"/>
              <a:ext cx="457200" cy="658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2E8F0"/>
                </a:buClr>
                <a:buSzPts val="1800"/>
                <a:buFont typeface="Calibri"/>
                <a:buNone/>
              </a:pPr>
              <a:r>
                <a:rPr b="1" lang="en-US" sz="1800">
                  <a:solidFill>
                    <a:srgbClr val="E2E8F0"/>
                  </a:solidFill>
                  <a:latin typeface="Calibri"/>
                  <a:ea typeface="Calibri"/>
                  <a:cs typeface="Calibri"/>
                  <a:sym typeface="Calibri"/>
                </a:rPr>
                <a:t>05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11"/>
            <p:cNvSpPr/>
            <p:nvPr/>
          </p:nvSpPr>
          <p:spPr>
            <a:xfrm>
              <a:off x="1051560" y="3895344"/>
              <a:ext cx="2286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A6B"/>
                </a:buClr>
                <a:buSzPts val="1100"/>
                <a:buFont typeface="Calibri"/>
                <a:buNone/>
              </a:pPr>
              <a:r>
                <a:rPr b="1" lang="en-US" sz="1100">
                  <a:solidFill>
                    <a:srgbClr val="1B3A6B"/>
                  </a:solidFill>
                  <a:latin typeface="Calibri"/>
                  <a:ea typeface="Calibri"/>
                  <a:cs typeface="Calibri"/>
                  <a:sym typeface="Calibri"/>
                </a:rPr>
                <a:t>Handling Imperfect Data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11"/>
            <p:cNvSpPr/>
            <p:nvPr/>
          </p:nvSpPr>
          <p:spPr>
            <a:xfrm>
              <a:off x="3429000" y="3877056"/>
              <a:ext cx="5257800" cy="502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B3C"/>
                </a:buClr>
                <a:buSzPts val="1000"/>
                <a:buFont typeface="Calibri"/>
                <a:buNone/>
              </a:pPr>
              <a:r>
                <a:rPr lang="en-US" sz="1000">
                  <a:solidFill>
                    <a:srgbClr val="1E2B3C"/>
                  </a:solidFill>
                  <a:latin typeface="Calibri"/>
                  <a:ea typeface="Calibri"/>
                  <a:cs typeface="Calibri"/>
                  <a:sym typeface="Calibri"/>
                </a:rPr>
                <a:t>Real datasets have gaps, mismatches, and missing fields — robust conditional logic and validation is essential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7" name="Google Shape;397;p11"/>
            <p:cNvCxnSpPr/>
            <p:nvPr/>
          </p:nvCxnSpPr>
          <p:spPr>
            <a:xfrm>
              <a:off x="3337560" y="3913632"/>
              <a:ext cx="0" cy="438912"/>
            </a:xfrm>
            <a:prstGeom prst="straightConnector1">
              <a:avLst/>
            </a:prstGeom>
            <a:noFill/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2"/>
          <p:cNvSpPr/>
          <p:nvPr/>
        </p:nvSpPr>
        <p:spPr>
          <a:xfrm>
            <a:off x="457200" y="150223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0" y="4846320"/>
            <a:ext cx="9144000" cy="91440"/>
          </a:xfrm>
          <a:prstGeom prst="rect">
            <a:avLst/>
          </a:prstGeom>
          <a:solidFill>
            <a:srgbClr val="3B82C4"/>
          </a:solidFill>
          <a:ln cap="flat" cmpd="sng" w="12700">
            <a:solidFill>
              <a:srgbClr val="3B8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IndiaMART | Product Management Internship | April 2026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5" name="Google Shape;405;p12"/>
          <p:cNvCxnSpPr/>
          <p:nvPr/>
        </p:nvCxnSpPr>
        <p:spPr>
          <a:xfrm>
            <a:off x="777240" y="1024128"/>
            <a:ext cx="0" cy="3566160"/>
          </a:xfrm>
          <a:prstGeom prst="straightConnector1">
            <a:avLst/>
          </a:prstGeom>
          <a:noFill/>
          <a:ln cap="flat" cmpd="sng" w="254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6" name="Google Shape;406;p12"/>
          <p:cNvSpPr/>
          <p:nvPr/>
        </p:nvSpPr>
        <p:spPr>
          <a:xfrm>
            <a:off x="502920" y="987552"/>
            <a:ext cx="548640" cy="548640"/>
          </a:xfrm>
          <a:prstGeom prst="ellipse">
            <a:avLst/>
          </a:prstGeom>
          <a:solidFill>
            <a:srgbClr val="2563A8"/>
          </a:solidFill>
          <a:ln cap="flat" cmpd="sng" w="12700">
            <a:solidFill>
              <a:srgbClr val="2563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502920" y="98755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1234440" y="896112"/>
            <a:ext cx="749808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1371600" y="96926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Fix Daily KPI Tracker Automation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4251960" y="969264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96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296B0"/>
                </a:solidFill>
                <a:latin typeface="Calibri"/>
                <a:ea typeface="Calibri"/>
                <a:cs typeface="Calibri"/>
                <a:sym typeface="Calibri"/>
              </a:rPr>
              <a:t>Make the daily tracker for all other campaigns as well</a:t>
            </a:r>
            <a:endParaRPr/>
          </a:p>
        </p:txBody>
      </p:sp>
      <p:cxnSp>
        <p:nvCxnSpPr>
          <p:cNvPr id="411" name="Google Shape;411;p12"/>
          <p:cNvCxnSpPr/>
          <p:nvPr/>
        </p:nvCxnSpPr>
        <p:spPr>
          <a:xfrm>
            <a:off x="4160520" y="987552"/>
            <a:ext cx="0" cy="475488"/>
          </a:xfrm>
          <a:prstGeom prst="straightConnector1">
            <a:avLst/>
          </a:prstGeom>
          <a:noFill/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2" name="Google Shape;412;p12"/>
          <p:cNvSpPr/>
          <p:nvPr/>
        </p:nvSpPr>
        <p:spPr>
          <a:xfrm>
            <a:off x="502920" y="1737360"/>
            <a:ext cx="548640" cy="548640"/>
          </a:xfrm>
          <a:prstGeom prst="ellipse">
            <a:avLst/>
          </a:prstGeom>
          <a:solidFill>
            <a:srgbClr val="2563A8"/>
          </a:solidFill>
          <a:ln cap="flat" cmpd="sng" w="12700">
            <a:solidFill>
              <a:srgbClr val="2563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502920" y="17373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1234440" y="1645920"/>
            <a:ext cx="7498080" cy="658368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2"/>
          <p:cNvSpPr/>
          <p:nvPr/>
        </p:nvSpPr>
        <p:spPr>
          <a:xfrm>
            <a:off x="1371600" y="171907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Resolve DB Inconsistencies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4251960" y="1719072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96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296B0"/>
                </a:solidFill>
                <a:latin typeface="Calibri"/>
                <a:ea typeface="Calibri"/>
                <a:cs typeface="Calibri"/>
                <a:sym typeface="Calibri"/>
              </a:rPr>
              <a:t>Investigate and reconcile the 13K DB vs 19K MCAT Mesh data mismatch across sources</a:t>
            </a:r>
            <a:endParaRPr/>
          </a:p>
        </p:txBody>
      </p:sp>
      <p:cxnSp>
        <p:nvCxnSpPr>
          <p:cNvPr id="417" name="Google Shape;417;p12"/>
          <p:cNvCxnSpPr/>
          <p:nvPr/>
        </p:nvCxnSpPr>
        <p:spPr>
          <a:xfrm>
            <a:off x="4160520" y="1737360"/>
            <a:ext cx="0" cy="475488"/>
          </a:xfrm>
          <a:prstGeom prst="straightConnector1">
            <a:avLst/>
          </a:prstGeom>
          <a:noFill/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8" name="Google Shape;418;p12"/>
          <p:cNvSpPr/>
          <p:nvPr/>
        </p:nvSpPr>
        <p:spPr>
          <a:xfrm>
            <a:off x="502920" y="2487168"/>
            <a:ext cx="548640" cy="548640"/>
          </a:xfrm>
          <a:prstGeom prst="ellipse">
            <a:avLst/>
          </a:prstGeom>
          <a:solidFill>
            <a:srgbClr val="3B82C4"/>
          </a:solidFill>
          <a:ln cap="flat" cmpd="sng" w="12700">
            <a:solidFill>
              <a:srgbClr val="3B8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502920" y="248716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1234440" y="2395728"/>
            <a:ext cx="749808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2"/>
          <p:cNvSpPr/>
          <p:nvPr/>
        </p:nvSpPr>
        <p:spPr>
          <a:xfrm>
            <a:off x="1371600" y="24688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Build Live KPI Dashboard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4251960" y="2468880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[Completed] Interactive dashboard built on Next.js, connected to live Redshift DB with Daily/Weekly/Monthly filters.</a:t>
            </a:r>
          </a:p>
        </p:txBody>
      </p:sp>
      <p:cxnSp>
        <p:nvCxnSpPr>
          <p:cNvPr id="423" name="Google Shape;423;p12"/>
          <p:cNvCxnSpPr/>
          <p:nvPr/>
        </p:nvCxnSpPr>
        <p:spPr>
          <a:xfrm>
            <a:off x="4160520" y="2487168"/>
            <a:ext cx="0" cy="475488"/>
          </a:xfrm>
          <a:prstGeom prst="straightConnector1">
            <a:avLst/>
          </a:prstGeom>
          <a:noFill/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4" name="Google Shape;424;p12"/>
          <p:cNvSpPr/>
          <p:nvPr/>
        </p:nvSpPr>
        <p:spPr>
          <a:xfrm>
            <a:off x="502920" y="3236976"/>
            <a:ext cx="548640" cy="548640"/>
          </a:xfrm>
          <a:prstGeom prst="ellipse">
            <a:avLst/>
          </a:prstGeom>
          <a:solidFill>
            <a:srgbClr val="3B82C4"/>
          </a:solidFill>
          <a:ln cap="flat" cmpd="sng" w="12700">
            <a:solidFill>
              <a:srgbClr val="3B8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502920" y="323697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1234440" y="3145536"/>
            <a:ext cx="7498080" cy="658368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1371600" y="321868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Automate Custom Label Mismatch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4251960" y="3218688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296B0"/>
                </a:solidFill>
                <a:latin typeface="Calibri"/>
                <a:ea typeface="Calibri"/>
                <a:cs typeface="Calibri"/>
                <a:sym typeface="Calibri"/>
              </a:rPr>
              <a:t>Live MCAT-wise Custom Label 3 feed needs to be automated — replacing the weekly manual download with a direct API or DB pull to enable continuous mismatch monitoring.</a:t>
            </a:r>
            <a:endParaRPr sz="1000">
              <a:solidFill>
                <a:srgbClr val="8296B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9" name="Google Shape;429;p12"/>
          <p:cNvCxnSpPr/>
          <p:nvPr/>
        </p:nvCxnSpPr>
        <p:spPr>
          <a:xfrm>
            <a:off x="4160520" y="3236976"/>
            <a:ext cx="0" cy="475488"/>
          </a:xfrm>
          <a:prstGeom prst="straightConnector1">
            <a:avLst/>
          </a:prstGeom>
          <a:noFill/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0" name="Google Shape;430;p12"/>
          <p:cNvSpPr/>
          <p:nvPr/>
        </p:nvSpPr>
        <p:spPr>
          <a:xfrm>
            <a:off x="502920" y="3986784"/>
            <a:ext cx="548640" cy="548640"/>
          </a:xfrm>
          <a:prstGeom prst="ellipse">
            <a:avLst/>
          </a:prstGeom>
          <a:solidFill>
            <a:srgbClr val="3B82C4"/>
          </a:solidFill>
          <a:ln cap="flat" cmpd="sng" w="12700">
            <a:solidFill>
              <a:srgbClr val="3B8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2"/>
          <p:cNvSpPr/>
          <p:nvPr/>
        </p:nvSpPr>
        <p:spPr>
          <a:xfrm>
            <a:off x="502920" y="398678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1234440" y="3895344"/>
            <a:ext cx="749808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1371600" y="3968496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Recommendation Engine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4251960" y="3968496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96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296B0"/>
                </a:solidFill>
                <a:latin typeface="Calibri"/>
                <a:ea typeface="Calibri"/>
                <a:cs typeface="Calibri"/>
                <a:sym typeface="Calibri"/>
              </a:rPr>
              <a:t>Add automated bid/budget recommendations directly within daily email reports</a:t>
            </a:r>
            <a:endParaRPr/>
          </a:p>
        </p:txBody>
      </p:sp>
      <p:cxnSp>
        <p:nvCxnSpPr>
          <p:cNvPr id="435" name="Google Shape;435;p12"/>
          <p:cNvCxnSpPr/>
          <p:nvPr/>
        </p:nvCxnSpPr>
        <p:spPr>
          <a:xfrm>
            <a:off x="4160520" y="3986784"/>
            <a:ext cx="0" cy="475488"/>
          </a:xfrm>
          <a:prstGeom prst="straightConnector1">
            <a:avLst/>
          </a:prstGeom>
          <a:noFill/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8580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1C2F6B"/>
                </a:solidFill>
                <a:latin typeface="Calibri"/>
              </a:defRPr>
            </a:pPr>
            <a:r>
              <a:t>Task 6: Campaign Details Analytics Dashboard —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000000"/>
            <a:ext cx="34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 b="1">
                <a:solidFill>
                  <a:srgbClr val="1C2F6B"/>
                </a:solidFill>
                <a:latin typeface="Calibri"/>
              </a:defRPr>
            </a:pPr>
            <a:r>
              <a:t>Goal &amp; Scope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Automated Dashboard: </a:t>
            </a:r>
            <a:r>
              <a:rPr sz="1300" b="0">
                <a:solidFill>
                  <a:srgbClr val="333333"/>
                </a:solidFill>
                <a:latin typeface="Calibri"/>
              </a:rPr>
              <a:t>Built interactive campaign details view with dynamic Daily, Weekly, and Monthly tracking options.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Granular Drilldown: </a:t>
            </a:r>
            <a:r>
              <a:rPr sz="1300" b="0">
                <a:solidFill>
                  <a:srgbClr val="333333"/>
                </a:solidFill>
                <a:latin typeface="Calibri"/>
              </a:rPr>
              <a:t>Supports cascading Group → PMCAT → MCAT level selectors, resolving static report limits.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State Optimization: </a:t>
            </a:r>
            <a:r>
              <a:rPr sz="1300" b="0">
                <a:solidFill>
                  <a:srgbClr val="333333"/>
                </a:solidFill>
                <a:latin typeface="Calibri"/>
              </a:rPr>
              <a:t>Redesigned frontend states to dynamically adapt metric headers, comparing counts, and visual components.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00000" y="1000000"/>
            <a:ext cx="34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 b="1">
                <a:solidFill>
                  <a:srgbClr val="1C2F6B"/>
                </a:solidFill>
                <a:latin typeface="Calibri"/>
              </a:defRPr>
            </a:pPr>
            <a:r>
              <a:t>Technical Approach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Redshift Integration: </a:t>
            </a:r>
            <a:r>
              <a:rPr sz="1300" b="0">
                <a:solidFill>
                  <a:srgbClr val="333333"/>
                </a:solidFill>
                <a:latin typeface="Calibri"/>
              </a:rPr>
              <a:t>Connected Next.js endpoint to bi-dwh-redshift-production pool to run live SQL queries.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Dynamic Parameters: </a:t>
            </a:r>
            <a:r>
              <a:rPr sz="1300" b="0">
                <a:solidFill>
                  <a:srgbClr val="333333"/>
                </a:solidFill>
                <a:latin typeface="Calibri"/>
              </a:rPr>
              <a:t>Configured API route to read search parameters and adapt queries dynamically based on selection.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Zero Google Sheets: </a:t>
            </a:r>
            <a:r>
              <a:rPr sz="1300" b="0">
                <a:solidFill>
                  <a:srgbClr val="333333"/>
                </a:solidFill>
                <a:latin typeface="Calibri"/>
              </a:rPr>
              <a:t>Decoupled dashboard from slow, rate-limited sheets to fetch aggregated data directly from DWH.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00000" y="1000000"/>
            <a:ext cx="34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 b="1">
                <a:solidFill>
                  <a:srgbClr val="1C2F6B"/>
                </a:solidFill>
                <a:latin typeface="Calibri"/>
              </a:defRPr>
            </a:pPr>
            <a:r>
              <a:t>Key Learnings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Redshift Limitations: </a:t>
            </a:r>
            <a:r>
              <a:rPr sz="1300" b="0">
                <a:solidFill>
                  <a:srgbClr val="333333"/>
                </a:solidFill>
                <a:latin typeface="Calibri"/>
              </a:rPr>
              <a:t>Discovered AWS Redshift constraints on month intervals, resolving it with day-based equivalents (365 days).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Scale Performance: </a:t>
            </a:r>
            <a:r>
              <a:rPr sz="1300" b="0">
                <a:solidFill>
                  <a:srgbClr val="333333"/>
                </a:solidFill>
                <a:latin typeface="Calibri"/>
              </a:rPr>
              <a:t>Managed mapping logic for ~200K data rows on client state, optimizing parsing speeds and memory.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Data Inconsistencies: </a:t>
            </a:r>
            <a:r>
              <a:rPr sz="1300" b="0">
                <a:solidFill>
                  <a:srgbClr val="333333"/>
                </a:solidFill>
                <a:latin typeface="Calibri"/>
              </a:rPr>
              <a:t>Learned to handle empty state checks across daily/monthly boundaries without breaking UI chart rendering.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8580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1C2F6B"/>
                </a:solidFill>
                <a:latin typeface="Calibri"/>
              </a:defRPr>
            </a:pPr>
            <a:r>
              <a:t>Task 6: Campaign Details — Standard View Dashboard</a:t>
            </a:r>
          </a:p>
        </p:txBody>
      </p:sp>
      <p:pic>
        <p:nvPicPr>
          <p:cNvPr id="3" name="Picture 2" descr="media_89ae4b45-cd95-4dee-afa7-478ba11610c8_17792629789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1000000"/>
            <a:ext cx="5400000" cy="37712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00000" y="1100000"/>
            <a:ext cx="5600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Performance Header: </a:t>
            </a:r>
            <a:r>
              <a:rPr sz="1300" b="0">
                <a:solidFill>
                  <a:srgbClr val="333333"/>
                </a:solidFill>
                <a:latin typeface="Calibri"/>
              </a:rPr>
              <a:t>Displays the selected MCAT name, reporting date, and the database feed status (Redshift DWH).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Attribution Metric Cards: </a:t>
            </a:r>
            <a:r>
              <a:rPr sz="1300" b="0">
                <a:solidFill>
                  <a:srgbClr val="333333"/>
                </a:solidFill>
                <a:latin typeface="Calibri"/>
              </a:rPr>
              <a:t>Renders key indicators including impressions, clicks, CTR, cost, conversions, BL approved, BL sold, cost per txn, and diversity.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Ranking Analysis: </a:t>
            </a:r>
            <a:r>
              <a:rPr sz="1300" b="0">
                <a:solidFill>
                  <a:srgbClr val="333333"/>
                </a:solidFill>
                <a:latin typeface="Calibri"/>
              </a:rPr>
              <a:t>Shows top/bottom 10 performers sorted by any metric dynamically (e.g. conversions or cost/txn) for optimization.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Historical Trend: </a:t>
            </a:r>
            <a:r>
              <a:rPr sz="1300" b="0">
                <a:solidFill>
                  <a:srgbClr val="333333"/>
                </a:solidFill>
                <a:latin typeface="Calibri"/>
              </a:rPr>
              <a:t>Plots cost, clicks, and impressions over a 12-week, 30-day, or 12-month trend line.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8580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1C2F6B"/>
                </a:solidFill>
                <a:latin typeface="Calibri"/>
              </a:defRPr>
            </a:pPr>
            <a:r>
              <a:t>Task 6: Campaign Details — Compare Mode &amp; AI Insights</a:t>
            </a:r>
          </a:p>
        </p:txBody>
      </p:sp>
      <p:pic>
        <p:nvPicPr>
          <p:cNvPr id="3" name="Picture 2" descr="media_89ae4b45-cd95-4dee-afa7-478ba11610c8_17792629829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1000000"/>
            <a:ext cx="5400000" cy="37712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00000" y="1100000"/>
            <a:ext cx="5600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Best Ever KPIs Banner: </a:t>
            </a:r>
            <a:r>
              <a:rPr sz="1300" b="0">
                <a:solidFill>
                  <a:srgbClr val="333333"/>
                </a:solidFill>
                <a:latin typeface="Calibri"/>
              </a:rPr>
              <a:t>Highlights historic peak performance indicators across the compared periods for comparison benchmarks.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AI-Generated Insights: </a:t>
            </a:r>
            <a:r>
              <a:rPr sz="1300" b="0">
                <a:solidFill>
                  <a:srgbClr val="333333"/>
                </a:solidFill>
                <a:latin typeface="Calibri"/>
              </a:rPr>
              <a:t>Dynamically generates textual alerts on budget overspends, cost-per-transaction anomalies, and bidding advice.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Metric Comparison Table: </a:t>
            </a:r>
            <a:r>
              <a:rPr sz="1300" b="0">
                <a:solidFill>
                  <a:srgbClr val="333333"/>
                </a:solidFill>
                <a:latin typeface="Calibri"/>
              </a:rPr>
              <a:t>Provides grid breakdown of each metric across compared weeks/days/months to track percentage improvements.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Cascading Selectors: </a:t>
            </a:r>
            <a:r>
              <a:rPr sz="1300" b="0">
                <a:solidFill>
                  <a:srgbClr val="333333"/>
                </a:solidFill>
                <a:latin typeface="Calibri"/>
              </a:rPr>
              <a:t>Interactive filters allow side-by-side comparison of specific groups, PMCATs, or individual MCAT campaigns.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3"/>
          <p:cNvSpPr txBox="1"/>
          <p:nvPr>
            <p:ph idx="1" type="body"/>
          </p:nvPr>
        </p:nvSpPr>
        <p:spPr>
          <a:xfrm>
            <a:off x="1564538" y="1829306"/>
            <a:ext cx="6015000" cy="8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2026-04-29T08:43:57Z</dcterms:created>
  <dc:creator>Kratika Agarwal</dc:creator>
</cp:coreProperties>
</file>